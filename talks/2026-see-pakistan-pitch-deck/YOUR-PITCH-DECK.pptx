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F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C5C5C"/>
                </a:solidFill>
                <a:latin typeface="Calibri"/>
              </a:rPr>
              <a:t>UNDERSTAND · SLIDE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75488"/>
            <a:ext cx="11247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41414"/>
                </a:solidFill>
                <a:latin typeface="Calibri"/>
              </a:rPr>
              <a:t>Make me understand the company in one breath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34440"/>
            <a:ext cx="112471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6E62"/>
                </a:solidFill>
                <a:latin typeface="Calibri"/>
              </a:rPr>
              <a:t>[Company name]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691640"/>
            <a:ext cx="11301984" cy="2148840"/>
          </a:xfrm>
          <a:prstGeom prst="roundRect">
            <a:avLst>
              <a:gd name="adj" fmla="val 8000"/>
            </a:avLst>
          </a:prstGeom>
          <a:solidFill>
            <a:srgbClr val="E4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874519"/>
            <a:ext cx="10844784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41414"/>
                </a:solidFill>
                <a:latin typeface="Calibri"/>
              </a:rPr>
              <a:t>[Customer] uses [product] to [job], so they get [outcome]. Example of strong: Clinic software that brings appointments, EMR, billing and pharmacy into one system.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4069080"/>
            <a:ext cx="1124712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C5C5C"/>
                </a:solidFill>
                <a:latin typeface="Calibri"/>
              </a:rPr>
              <a:t>Rule: describe the business before describing the ambition. Customer + job + outcome. No ecosystem, no AI-powered, no next-generation until the buyer is obvious.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6528816"/>
            <a:ext cx="77724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5C5C"/>
                </a:solidFill>
                <a:latin typeface="Calibri"/>
              </a:rPr>
              <a:t>REWRITE USING THE BOOTCAMP CHAIN OF CONVICTION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6528816"/>
            <a:ext cx="2194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5C5C"/>
                </a:solidFill>
                <a:latin typeface="Calibri"/>
              </a:rPr>
              <a:t>01  / 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F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C5C5C"/>
                </a:solidFill>
                <a:latin typeface="Calibri"/>
              </a:rPr>
              <a:t>UNDERSTAND ·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75488"/>
            <a:ext cx="11247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41414"/>
                </a:solidFill>
                <a:latin typeface="Calibri"/>
              </a:rPr>
              <a:t>Pain beats breadth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1325880"/>
            <a:ext cx="5486400" cy="4023360"/>
          </a:xfrm>
          <a:prstGeom prst="roundRect">
            <a:avLst>
              <a:gd name="adj" fmla="val 8000"/>
            </a:avLst>
          </a:prstGeom>
          <a:solidFill>
            <a:srgbClr val="F8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72184"/>
            <a:ext cx="508406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4342A"/>
                </a:solidFill>
                <a:latin typeface="Calibri"/>
              </a:rPr>
              <a:t>WEAK — industry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64792"/>
            <a:ext cx="5084064" cy="34015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41414"/>
                </a:solidFill>
                <a:latin typeface="Calibri"/>
              </a:rPr>
              <a:t>A list of everything wrong with a sector. Fragmented. Inefficient. Outdated. The investor still cannot see one person stuck.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4496" y="1325880"/>
            <a:ext cx="5486400" cy="4023360"/>
          </a:xfrm>
          <a:prstGeom prst="roundRect">
            <a:avLst>
              <a:gd name="adj" fmla="val 8000"/>
            </a:avLst>
          </a:prstGeom>
          <a:solidFill>
            <a:srgbClr val="E4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1472184"/>
            <a:ext cx="508406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6E62"/>
                </a:solidFill>
                <a:latin typeface="Calibri"/>
              </a:rPr>
              <a:t>STRONG — customer 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5664" y="1764792"/>
            <a:ext cx="5084064" cy="34015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41414"/>
                </a:solidFill>
                <a:latin typeface="Calibri"/>
              </a:rPr>
              <a:t>[Who feels the pain — a specific person, not an industry]
[Person] + [painful situation] + [consequence]. Example: Independent clinics manage patient records, billing and inventory across paper registers and disconnected software.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5532120"/>
            <a:ext cx="11247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C5C5C"/>
                </a:solidFill>
                <a:latin typeface="Calibri"/>
              </a:rPr>
              <a:t>Person + painful situation + consequence.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6528816"/>
            <a:ext cx="77724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5C5C"/>
                </a:solidFill>
                <a:latin typeface="Calibri"/>
              </a:rPr>
              <a:t>REWRITE USING THE BOOTCAMP CHAIN OF CONVICTION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6528816"/>
            <a:ext cx="2194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5C5C"/>
                </a:solidFill>
                <a:latin typeface="Calibri"/>
              </a:rPr>
              <a:t>02  / 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F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C5C5C"/>
                </a:solidFill>
                <a:latin typeface="Calibri"/>
              </a:rPr>
              <a:t>UNDERSTAND + 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75488"/>
            <a:ext cx="11247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41414"/>
                </a:solidFill>
                <a:latin typeface="Calibri"/>
              </a:rPr>
              <a:t>Show the transformation, then explain why now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1325880"/>
            <a:ext cx="3200400" cy="292608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72184"/>
            <a:ext cx="279806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1414"/>
                </a:solidFill>
                <a:latin typeface="Calibri"/>
              </a:rPr>
              <a:t>BEFORE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64792"/>
            <a:ext cx="2798064" cy="23042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41414"/>
                </a:solidFill>
                <a:latin typeface="Calibri"/>
              </a:rPr>
              <a:t>Fragmented: paper, email, spreadsheets, disconnected tools.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22191" y="1691640"/>
            <a:ext cx="4535424" cy="219456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05072" y="1965960"/>
            <a:ext cx="4169663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YOUR 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05072" y="2331720"/>
            <a:ext cx="4169663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[What the product actually is in one line]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0496" y="1325880"/>
            <a:ext cx="3200400" cy="2926080"/>
          </a:xfrm>
          <a:prstGeom prst="roundRect">
            <a:avLst>
              <a:gd name="adj" fmla="val 8000"/>
            </a:avLst>
          </a:prstGeom>
          <a:solidFill>
            <a:srgbClr val="E4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41664" y="1472184"/>
            <a:ext cx="279806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6E62"/>
                </a:solidFill>
                <a:latin typeface="Calibri"/>
              </a:rPr>
              <a:t>AFTER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1664" y="1764792"/>
            <a:ext cx="2798064" cy="23042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41414"/>
                </a:solidFill>
                <a:latin typeface="Calibri"/>
              </a:rPr>
              <a:t>Integrated: one workflow, one source of truth, a measurable outcome.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4480560"/>
            <a:ext cx="11301984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617720"/>
            <a:ext cx="10881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45A12"/>
                </a:solidFill>
                <a:latin typeface="Calibri"/>
              </a:rPr>
              <a:t>WHY NOW?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19472"/>
            <a:ext cx="108813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41414"/>
                </a:solidFill>
                <a:latin typeface="Calibri"/>
              </a:rPr>
              <a:t>[What changed: regulation, behavior, infrastructure, AI, costs, or distribution — and why that makes this timely.]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6528816"/>
            <a:ext cx="77724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5C5C"/>
                </a:solidFill>
                <a:latin typeface="Calibri"/>
              </a:rPr>
              <a:t>REWRITE USING THE BOOTCAMP CHAIN OF CONVICTION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528816"/>
            <a:ext cx="2194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5C5C"/>
                </a:solidFill>
                <a:latin typeface="Calibri"/>
              </a:rPr>
              <a:t>03  / 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F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C5C5C"/>
                </a:solidFill>
                <a:latin typeface="Calibri"/>
              </a:rPr>
              <a:t>BELIEVE ·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75488"/>
            <a:ext cx="11247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41414"/>
                </a:solidFill>
                <a:latin typeface="Calibri"/>
              </a:rPr>
              <a:t>Replace giant TAM with believable math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1325880"/>
            <a:ext cx="3840480" cy="4114800"/>
          </a:xfrm>
          <a:prstGeom prst="roundRect">
            <a:avLst>
              <a:gd name="adj" fmla="val 8000"/>
            </a:avLst>
          </a:prstGeom>
          <a:solidFill>
            <a:srgbClr val="F8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72184"/>
            <a:ext cx="343814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4342A"/>
                </a:solidFill>
                <a:latin typeface="Calibri"/>
              </a:rPr>
              <a:t>TOP-DOWN — low information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64792"/>
            <a:ext cx="3438144" cy="34930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41414"/>
                </a:solidFill>
                <a:latin typeface="Calibri"/>
              </a:rPr>
              <a:t>$X T
"[Huge market slogan]"
Big number. Low information.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98848" y="1325880"/>
            <a:ext cx="7242048" cy="4114800"/>
          </a:xfrm>
          <a:prstGeom prst="roundRect">
            <a:avLst>
              <a:gd name="adj" fmla="val 8000"/>
            </a:avLst>
          </a:prstGeom>
          <a:solidFill>
            <a:srgbClr val="E4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554480"/>
            <a:ext cx="6766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6E62"/>
                </a:solidFill>
                <a:latin typeface="Calibri"/>
              </a:rPr>
              <a:t>BOTTOM-UP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965960"/>
            <a:ext cx="676656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41414"/>
                </a:solidFill>
                <a:latin typeface="Calibri"/>
              </a:rPr>
              <a:t>[40,000 target customers]  ×  [PKR 15K monthly ACV]  =  [PKR 7.2B annual opportunity]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383280"/>
            <a:ext cx="676656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41414"/>
                </a:solidFill>
                <a:latin typeface="Calibri"/>
              </a:rPr>
              <a:t>Beachhead:
[The first segment you can actually acquire this year.]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6528816"/>
            <a:ext cx="77724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5C5C"/>
                </a:solidFill>
                <a:latin typeface="Calibri"/>
              </a:rPr>
              <a:t>REWRITE USING THE BOOTCAMP CHAIN OF CONVICTION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6528816"/>
            <a:ext cx="2194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5C5C"/>
                </a:solidFill>
                <a:latin typeface="Calibri"/>
              </a:rPr>
              <a:t>04  / 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F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C5C5C"/>
                </a:solidFill>
                <a:latin typeface="Calibri"/>
              </a:rPr>
              <a:t>BELIEVE ·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75488"/>
            <a:ext cx="11247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41414"/>
                </a:solidFill>
                <a:latin typeface="Calibri"/>
              </a:rPr>
              <a:t>Traction is evidence, not decoration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1371600"/>
            <a:ext cx="11301984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8912" y="1371600"/>
            <a:ext cx="109728" cy="960120"/>
          </a:xfrm>
          <a:prstGeom prst="rect">
            <a:avLst/>
          </a:prstGeom>
          <a:solidFill>
            <a:srgbClr val="0F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627632"/>
            <a:ext cx="106984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1414"/>
                </a:solidFill>
                <a:latin typeface="Calibri"/>
              </a:rPr>
              <a:t>[Paying customers / pilots / revenue / waitlist — one real number]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2468880"/>
            <a:ext cx="11301984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" y="2468880"/>
            <a:ext cx="109728" cy="960120"/>
          </a:xfrm>
          <a:prstGeom prst="rect">
            <a:avLst/>
          </a:prstGeom>
          <a:solidFill>
            <a:srgbClr val="0F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724912"/>
            <a:ext cx="106984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1414"/>
                </a:solidFill>
                <a:latin typeface="Calibri"/>
              </a:rPr>
              <a:t>[Retention, usage, or a customer quote]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3566160"/>
            <a:ext cx="11301984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3566160"/>
            <a:ext cx="109728" cy="960120"/>
          </a:xfrm>
          <a:prstGeom prst="rect">
            <a:avLst/>
          </a:prstGeom>
          <a:solidFill>
            <a:srgbClr val="0F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3822191"/>
            <a:ext cx="106984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1414"/>
                </a:solidFill>
                <a:latin typeface="Calibri"/>
              </a:rPr>
              <a:t>[Time to value or a before/after metric]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4663440"/>
            <a:ext cx="11301984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" y="4663440"/>
            <a:ext cx="109728" cy="960120"/>
          </a:xfrm>
          <a:prstGeom prst="rect">
            <a:avLst/>
          </a:prstGeom>
          <a:solidFill>
            <a:srgbClr val="0F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4919472"/>
            <a:ext cx="106984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1414"/>
                </a:solidFill>
                <a:latin typeface="Calibri"/>
              </a:rPr>
              <a:t>[If early: evidence of demand, not logos for decoration]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6528816"/>
            <a:ext cx="77724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5C5C"/>
                </a:solidFill>
                <a:latin typeface="Calibri"/>
              </a:rPr>
              <a:t>REWRITE USING THE BOOTCAMP CHAIN OF CONVICTION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528816"/>
            <a:ext cx="2194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5C5C"/>
                </a:solidFill>
                <a:latin typeface="Calibri"/>
              </a:rPr>
              <a:t>05  / 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F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C5C5C"/>
                </a:solidFill>
                <a:latin typeface="Calibri"/>
              </a:rPr>
              <a:t>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75488"/>
            <a:ext cx="11247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41414"/>
                </a:solidFill>
                <a:latin typeface="Calibri"/>
              </a:rPr>
              <a:t>Who pays, how much, how often — then #1 to #1,000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1280160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3"/>
            <a:ext cx="325526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6E62"/>
                </a:solidFill>
                <a:latin typeface="Calibri"/>
              </a:rPr>
              <a:t>WHO PAYS?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3255264" cy="1527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41414"/>
                </a:solidFill>
                <a:latin typeface="Calibri"/>
              </a:rPr>
              <a:t>[The buyer who writes the cheque]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61104" y="1280160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2272" y="1426463"/>
            <a:ext cx="325526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45A12"/>
                </a:solidFill>
                <a:latin typeface="Calibri"/>
              </a:rPr>
              <a:t>HOW MUCH?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2272" y="1719072"/>
            <a:ext cx="3255264" cy="1527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41414"/>
                </a:solidFill>
                <a:latin typeface="Calibri"/>
              </a:rPr>
              <a:t>[Price / unit]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280160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84464" y="1426463"/>
            <a:ext cx="325526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4342A"/>
                </a:solidFill>
                <a:latin typeface="Calibri"/>
              </a:rPr>
              <a:t>HOW OFTEN?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4464" y="1719072"/>
            <a:ext cx="3255264" cy="1527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41414"/>
                </a:solidFill>
                <a:latin typeface="Calibri"/>
              </a:rPr>
              <a:t>[Recurring subscription / usage / contract]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3611880"/>
            <a:ext cx="112471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1414"/>
                </a:solidFill>
                <a:latin typeface="Calibri"/>
              </a:rPr>
              <a:t>How does customer #1 become customer #1,000?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" y="4069080"/>
            <a:ext cx="2084831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4279392"/>
            <a:ext cx="2084831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Calibri"/>
              </a:rPr>
              <a:t>Awareness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79776" y="4069080"/>
            <a:ext cx="2084831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79776" y="4279392"/>
            <a:ext cx="2084831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Calibri"/>
              </a:rPr>
              <a:t>Demo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4069080"/>
            <a:ext cx="2084831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4279392"/>
            <a:ext cx="2084831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Calibri"/>
              </a:rPr>
              <a:t>Pilot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61504" y="4069080"/>
            <a:ext cx="2084831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61504" y="4279392"/>
            <a:ext cx="2084831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Calibri"/>
              </a:rPr>
              <a:t>Contract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02368" y="4069080"/>
            <a:ext cx="2084831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02368" y="4279392"/>
            <a:ext cx="2084831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Calibri"/>
              </a:rPr>
              <a:t>Referral / expansion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" y="5074920"/>
            <a:ext cx="112471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C5C5C"/>
                </a:solidFill>
                <a:latin typeface="Calibri"/>
              </a:rPr>
              <a:t>[How customer #1 becomes customer #1,000 — a repeatable motion, not a hope.]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" y="6528816"/>
            <a:ext cx="77724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5C5C"/>
                </a:solidFill>
                <a:latin typeface="Calibri"/>
              </a:rPr>
              <a:t>REWRITE USING THE BOOTCAMP CHAIN OF CONVICTION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6528816"/>
            <a:ext cx="2194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5C5C"/>
                </a:solidFill>
                <a:latin typeface="Calibri"/>
              </a:rPr>
              <a:t>06  / 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F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C5C5C"/>
                </a:solidFill>
                <a:latin typeface="Calibri"/>
              </a:rPr>
              <a:t>WHY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75488"/>
            <a:ext cx="11247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41414"/>
                </a:solidFill>
                <a:latin typeface="Calibri"/>
              </a:rPr>
              <a:t>Your biggest rival may be “do nothing”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170432"/>
            <a:ext cx="112471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5C5C"/>
                </a:solidFill>
                <a:latin typeface="Calibri"/>
              </a:rPr>
              <a:t>Do not manufacture a feature table where you win every column.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645920"/>
            <a:ext cx="2761488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3" y="1828800"/>
            <a:ext cx="2432304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1414"/>
                </a:solidFill>
                <a:latin typeface="Calibri"/>
              </a:rPr>
              <a:t>Do nothing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3" y="2697480"/>
            <a:ext cx="2432304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5C5C"/>
                </a:solidFill>
                <a:latin typeface="Calibri"/>
              </a:rPr>
              <a:t>Zero switching cost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4992" y="1645920"/>
            <a:ext cx="2761488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9584" y="1828800"/>
            <a:ext cx="2432304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1414"/>
                </a:solidFill>
                <a:latin typeface="Calibri"/>
              </a:rPr>
              <a:t>[Excel / WhatsApp / status quo]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9584" y="2697480"/>
            <a:ext cx="2432304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5C5C"/>
                </a:solidFill>
                <a:latin typeface="Calibri"/>
              </a:rPr>
              <a:t>Cheap, familiar, already adopted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1645920"/>
            <a:ext cx="2761488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1828800"/>
            <a:ext cx="2432304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1414"/>
                </a:solidFill>
                <a:latin typeface="Calibri"/>
              </a:rPr>
              <a:t>[Legacy tool]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2697480"/>
            <a:ext cx="2432304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5C5C"/>
                </a:solidFill>
                <a:latin typeface="Calibri"/>
              </a:rPr>
              <a:t>Embedded in the current workflow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17152" y="1645920"/>
            <a:ext cx="2761488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81744" y="1828800"/>
            <a:ext cx="2432304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1414"/>
                </a:solidFill>
                <a:latin typeface="Calibri"/>
              </a:rPr>
              <a:t>[Named competitor]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81744" y="2697480"/>
            <a:ext cx="2432304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5C5C"/>
                </a:solidFill>
                <a:latin typeface="Calibri"/>
              </a:rPr>
              <a:t>What they actually own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" y="4251960"/>
            <a:ext cx="11301984" cy="173736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4434840"/>
            <a:ext cx="1084478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Your job is not to prove competitors are bad. It is to prove your advantage compounds.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5074920"/>
            <a:ext cx="10844784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[Why the advantage compounds: distribution, data, workflow lock-in, network effects, brand, or cost.]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" y="6528816"/>
            <a:ext cx="77724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5C5C"/>
                </a:solidFill>
                <a:latin typeface="Calibri"/>
              </a:rPr>
              <a:t>REWRITE USING THE BOOTCAMP CHAIN OF CONVICTION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6528816"/>
            <a:ext cx="2194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5C5C"/>
                </a:solidFill>
                <a:latin typeface="Calibri"/>
              </a:rPr>
              <a:t>07  / 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F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C5C5C"/>
                </a:solidFill>
                <a:latin typeface="Calibri"/>
              </a:rPr>
              <a:t>WANT MORE ·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75488"/>
            <a:ext cx="11247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41414"/>
                </a:solidFill>
                <a:latin typeface="Calibri"/>
              </a:rPr>
              <a:t>Team ≠ biographies. Show evidence.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1371600"/>
            <a:ext cx="5632704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8912" y="1371600"/>
            <a:ext cx="109728" cy="1965960"/>
          </a:xfrm>
          <a:prstGeom prst="rect">
            <a:avLst/>
          </a:prstGeom>
          <a:solidFill>
            <a:srgbClr val="0F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011680"/>
            <a:ext cx="50292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1414"/>
                </a:solidFill>
                <a:latin typeface="Calibri"/>
              </a:rPr>
              <a:t>Built [X]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371600"/>
            <a:ext cx="5632704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91072" y="1371600"/>
            <a:ext cx="109728" cy="1965960"/>
          </a:xfrm>
          <a:prstGeom prst="rect">
            <a:avLst/>
          </a:prstGeom>
          <a:solidFill>
            <a:srgbClr val="0F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56832" y="2011680"/>
            <a:ext cx="50292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1414"/>
                </a:solidFill>
                <a:latin typeface="Calibri"/>
              </a:rPr>
              <a:t>Scaled [Y]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3520440"/>
            <a:ext cx="5632704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3520440"/>
            <a:ext cx="109728" cy="1965960"/>
          </a:xfrm>
          <a:prstGeom prst="rect">
            <a:avLst/>
          </a:prstGeom>
          <a:solidFill>
            <a:srgbClr val="0F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160520"/>
            <a:ext cx="50292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1414"/>
                </a:solidFill>
                <a:latin typeface="Calibri"/>
              </a:rPr>
              <a:t>Sold to [Z] / industry access: [who]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3520440"/>
            <a:ext cx="5632704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91072" y="3520440"/>
            <a:ext cx="109728" cy="1965960"/>
          </a:xfrm>
          <a:prstGeom prst="rect">
            <a:avLst/>
          </a:prstGeom>
          <a:solidFill>
            <a:srgbClr val="0F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56832" y="4160520"/>
            <a:ext cx="50292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1414"/>
                </a:solidFill>
                <a:latin typeface="Calibri"/>
              </a:rPr>
              <a:t>Proprietary insight: [what you know from the market]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6528816"/>
            <a:ext cx="77724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5C5C"/>
                </a:solidFill>
                <a:latin typeface="Calibri"/>
              </a:rPr>
              <a:t>REWRITE USING THE BOOTCAMP CHAIN OF CONVICTION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528816"/>
            <a:ext cx="2194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5C5C"/>
                </a:solidFill>
                <a:latin typeface="Calibri"/>
              </a:rPr>
              <a:t>08  / 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F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C5C5C"/>
                </a:solidFill>
                <a:latin typeface="Calibri"/>
              </a:rPr>
              <a:t>WANT MORE ·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75488"/>
            <a:ext cx="11247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41414"/>
                </a:solidFill>
                <a:latin typeface="Calibri"/>
              </a:rPr>
              <a:t>Ask ≠ “strategic investors”. Be specific.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1280160"/>
            <a:ext cx="11301984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8912" y="1280160"/>
            <a:ext cx="109728" cy="777240"/>
          </a:xfrm>
          <a:prstGeom prst="rect">
            <a:avLst/>
          </a:prstGeom>
          <a:solidFill>
            <a:srgbClr val="C43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35331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4342A"/>
                </a:solidFill>
                <a:latin typeface="Calibri"/>
              </a:rPr>
              <a:t>AMOUNT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609343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41414"/>
                </a:solidFill>
                <a:latin typeface="Calibri"/>
              </a:rPr>
              <a:t>[Amount being raised]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2148839"/>
            <a:ext cx="11301984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" y="2148839"/>
            <a:ext cx="109728" cy="777240"/>
          </a:xfrm>
          <a:prstGeom prst="rect">
            <a:avLst/>
          </a:prstGeom>
          <a:solidFill>
            <a:srgbClr val="C43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221991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4342A"/>
                </a:solidFill>
                <a:latin typeface="Calibri"/>
              </a:rPr>
              <a:t>RUNWAY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478023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41414"/>
                </a:solidFill>
                <a:latin typeface="Calibri"/>
              </a:rPr>
              <a:t>[Runway this creates]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" y="3017520"/>
            <a:ext cx="11301984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" y="3017520"/>
            <a:ext cx="109728" cy="777240"/>
          </a:xfrm>
          <a:prstGeom prst="rect">
            <a:avLst/>
          </a:prstGeom>
          <a:solidFill>
            <a:srgbClr val="C43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309067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4342A"/>
                </a:solidFill>
                <a:latin typeface="Calibri"/>
              </a:rPr>
              <a:t>MILESTONES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3346703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41414"/>
                </a:solidFill>
                <a:latin typeface="Calibri"/>
              </a:rPr>
              <a:t>[Milestones the round unlocks]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" y="3886200"/>
            <a:ext cx="11301984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" y="3886200"/>
            <a:ext cx="109728" cy="777240"/>
          </a:xfrm>
          <a:prstGeom prst="rect">
            <a:avLst/>
          </a:prstGeom>
          <a:solidFill>
            <a:srgbClr val="C43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5935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4342A"/>
                </a:solidFill>
                <a:latin typeface="Calibri"/>
              </a:rPr>
              <a:t>WHAT CAPITAL CHANGES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215384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41414"/>
                </a:solidFill>
                <a:latin typeface="Calibri"/>
              </a:rPr>
              <a:t>[What is different after the money lands]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4754879"/>
            <a:ext cx="11301984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" y="4754879"/>
            <a:ext cx="109728" cy="777240"/>
          </a:xfrm>
          <a:prstGeom prst="rect">
            <a:avLst/>
          </a:prstGeom>
          <a:solidFill>
            <a:srgbClr val="C43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4828031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4342A"/>
                </a:solidFill>
                <a:latin typeface="Calibri"/>
              </a:rPr>
              <a:t>WHAT YOU WANT NEXT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5084064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41414"/>
                </a:solidFill>
                <a:latin typeface="Calibri"/>
              </a:rPr>
              <a:t>[The specific next step you want from this investor]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" y="6528816"/>
            <a:ext cx="77724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5C5C"/>
                </a:solidFill>
                <a:latin typeface="Calibri"/>
              </a:rPr>
              <a:t>REWRITE USING THE BOOTCAMP CHAIN OF CONVICTION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6528816"/>
            <a:ext cx="2194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5C5C"/>
                </a:solidFill>
                <a:latin typeface="Calibri"/>
              </a:rPr>
              <a:t>09  / 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F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C5C5C"/>
                </a:solidFill>
                <a:latin typeface="Calibri"/>
              </a:rPr>
              <a:t>BEFORE REDESIGN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75488"/>
            <a:ext cx="11247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41414"/>
                </a:solidFill>
                <a:latin typeface="Calibri"/>
              </a:rPr>
              <a:t>Score the story. Then subtract.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80160"/>
            <a:ext cx="5486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41414"/>
                </a:solidFill>
                <a:latin typeface="Calibri"/>
              </a:rPr>
              <a:t>1. Business understood quickly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783080"/>
            <a:ext cx="5486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41414"/>
                </a:solidFill>
                <a:latin typeface="Calibri"/>
              </a:rPr>
              <a:t>2. Problem specific + painful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2286000"/>
            <a:ext cx="5486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41414"/>
                </a:solidFill>
                <a:latin typeface="Calibri"/>
              </a:rPr>
              <a:t>3. Solution immediately clear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2788920"/>
            <a:ext cx="5486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41414"/>
                </a:solidFill>
                <a:latin typeface="Calibri"/>
              </a:rPr>
              <a:t>4. Traction is credible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3291840"/>
            <a:ext cx="5486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41414"/>
                </a:solidFill>
                <a:latin typeface="Calibri"/>
              </a:rPr>
              <a:t>5. Market math is believable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280160"/>
            <a:ext cx="5486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41414"/>
                </a:solidFill>
                <a:latin typeface="Calibri"/>
              </a:rPr>
              <a:t>6. Business model is clear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54496" y="1783080"/>
            <a:ext cx="5486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41414"/>
                </a:solidFill>
                <a:latin typeface="Calibri"/>
              </a:rPr>
              <a:t>7. GTM is repeatable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4496" y="2286000"/>
            <a:ext cx="5486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41414"/>
                </a:solidFill>
                <a:latin typeface="Calibri"/>
              </a:rPr>
              <a:t>8. Advantage is defensible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4496" y="2788920"/>
            <a:ext cx="5486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41414"/>
                </a:solidFill>
                <a:latin typeface="Calibri"/>
              </a:rPr>
              <a:t>9. Team has founder-market 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4496" y="3291840"/>
            <a:ext cx="5486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41414"/>
                </a:solidFill>
                <a:latin typeface="Calibri"/>
              </a:rPr>
              <a:t>10. Ask is explicit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" y="3931920"/>
            <a:ext cx="3566160" cy="640080"/>
          </a:xfrm>
          <a:prstGeom prst="roundRect">
            <a:avLst>
              <a:gd name="adj" fmla="val 8000"/>
            </a:avLst>
          </a:prstGeom>
          <a:solidFill>
            <a:srgbClr val="F8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4069080"/>
            <a:ext cx="3566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Calibri"/>
              </a:rPr>
              <a:t>0–19  RETHINK THE STORY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24528" y="3931920"/>
            <a:ext cx="3566160" cy="640080"/>
          </a:xfrm>
          <a:prstGeom prst="roundRect">
            <a:avLst>
              <a:gd name="adj" fmla="val 8000"/>
            </a:avLst>
          </a:prstGeom>
          <a:solidFill>
            <a:srgbClr val="F6E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24528" y="4069080"/>
            <a:ext cx="3566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Calibri"/>
              </a:rPr>
              <a:t>20–39  REFINE 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3931920"/>
            <a:ext cx="3730752" cy="640080"/>
          </a:xfrm>
          <a:prstGeom prst="roundRect">
            <a:avLst>
              <a:gd name="adj" fmla="val 8000"/>
            </a:avLst>
          </a:prstGeom>
          <a:solidFill>
            <a:srgbClr val="DC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10144" y="4069080"/>
            <a:ext cx="373075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Calibri"/>
              </a:rPr>
              <a:t>40–50  POLISH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" y="4800600"/>
            <a:ext cx="1124712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C5C5C"/>
                </a:solidFill>
                <a:latin typeface="Calibri"/>
              </a:rPr>
              <a:t>Each item 0–5. Maximum 50. Perfecting the deck is mostly subtraction: remove anything that stops the investor from seeing the opportunity.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" y="6528816"/>
            <a:ext cx="77724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5C5C"/>
                </a:solidFill>
                <a:latin typeface="Calibri"/>
              </a:rPr>
              <a:t>REWRITE USING THE BOOTCAMP CHAIN OF CONVICTION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6528816"/>
            <a:ext cx="2194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5C5C"/>
                </a:solidFill>
                <a:latin typeface="Calibri"/>
              </a:rPr>
              <a:t>10  /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