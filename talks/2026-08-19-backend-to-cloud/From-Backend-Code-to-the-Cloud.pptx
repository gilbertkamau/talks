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linkedin.com/in/gilbert-chris-a696151a9" TargetMode="External"/><Relationship Id="rId3" Type="http://schemas.openxmlformats.org/officeDocument/2006/relationships/hyperlink" Target="https://github.com/GilbertKamau" TargetMode="External"/><Relationship Id="rId4" Type="http://schemas.openxmlformats.org/officeDocument/2006/relationships/hyperlink" Target="https://www.remoteflow.cc/" TargetMode="External"/><Relationship Id="rId5" Type="http://schemas.openxmlformats.org/officeDocument/2006/relationships/hyperlink" Target="https://x.com/El_berto31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521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361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202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042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8833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7238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2452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0857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9262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7667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72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4476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2881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286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9691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6500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4905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3310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1715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0120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9852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692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533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1373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5214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9054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8404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76809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115214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153619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192024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230428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268833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307238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345643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84048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422452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60857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499262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37667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76072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14476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52881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0"/>
            <a:ext cx="77724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75720" y="0"/>
            <a:ext cx="713232" cy="2560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841480" y="256032"/>
            <a:ext cx="34747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137392" y="0"/>
            <a:ext cx="338328" cy="16459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510528"/>
            <a:ext cx="502920" cy="34747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6656832"/>
            <a:ext cx="292608" cy="2011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686032" y="6565392"/>
            <a:ext cx="502920" cy="29260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338560" y="6748272"/>
            <a:ext cx="256032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8912" y="292608"/>
            <a:ext cx="201168" cy="73152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21945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B5FD"/>
                </a:solidFill>
                <a:latin typeface="JetBrains Mono"/>
                <a:ea typeface="JetBrains Mono"/>
              </a:rPr>
              <a:t>INTRODUCTION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912" y="457200"/>
            <a:ext cx="11155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Inter"/>
                <a:ea typeface="Inter"/>
              </a:rPr>
              <a:t>From Backend Code to the Cloud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8912" y="1078992"/>
            <a:ext cx="1115568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4B5FD"/>
                </a:solidFill>
                <a:latin typeface="Inter"/>
                <a:ea typeface="Inter"/>
              </a:rPr>
              <a:t>Building and Deploying Production-Ready Apps on AWS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38912" y="1499616"/>
            <a:ext cx="2212848" cy="347472"/>
          </a:xfrm>
          <a:prstGeom prst="roundRect">
            <a:avLst>
              <a:gd name="adj" fmla="val 40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8912" y="1554480"/>
            <a:ext cx="221284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5E7EB"/>
                </a:solidFill>
                <a:latin typeface="JetBrains Mono"/>
                <a:ea typeface="JetBrains Mono"/>
              </a:rPr>
              <a:t>WED 19 AUG 2026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88920" y="1499616"/>
            <a:ext cx="2212848" cy="347472"/>
          </a:xfrm>
          <a:prstGeom prst="roundRect">
            <a:avLst>
              <a:gd name="adj" fmla="val 40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88920" y="1554480"/>
            <a:ext cx="221284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5E7EB"/>
                </a:solidFill>
                <a:latin typeface="JetBrains Mono"/>
                <a:ea typeface="JetBrains Mono"/>
              </a:rPr>
              <a:t>07:30 – 09:30 PM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138928" y="1499616"/>
            <a:ext cx="1508760" cy="347472"/>
          </a:xfrm>
          <a:prstGeom prst="roundRect">
            <a:avLst>
              <a:gd name="adj" fmla="val 40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138928" y="1554480"/>
            <a:ext cx="15087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5E7EB"/>
                </a:solidFill>
                <a:latin typeface="JetBrains Mono"/>
                <a:ea typeface="JetBrains Mono"/>
              </a:rPr>
              <a:t>ONLINE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784848" y="1499616"/>
            <a:ext cx="4937760" cy="347472"/>
          </a:xfrm>
          <a:prstGeom prst="roundRect">
            <a:avLst>
              <a:gd name="adj" fmla="val 40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784848" y="1554480"/>
            <a:ext cx="49377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5E7EB"/>
                </a:solidFill>
                <a:latin typeface="JetBrains Mono"/>
                <a:ea typeface="JetBrains Mono"/>
              </a:rPr>
              <a:t>GILBERT CHRIS  ·  REMOTEFLOW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8912" y="1993392"/>
            <a:ext cx="5413248" cy="1956816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38912" y="1993392"/>
            <a:ext cx="82296" cy="1956816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94944" y="2157984"/>
            <a:ext cx="12801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55F7"/>
                </a:solidFill>
                <a:latin typeface="JetBrains Mono"/>
                <a:ea typeface="JetBrains Mono"/>
              </a:rPr>
              <a:t>01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" y="2450592"/>
            <a:ext cx="4901183" cy="13350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5E7EB"/>
                </a:solidFill>
                <a:latin typeface="Inter"/>
                <a:ea typeface="Inter"/>
              </a:rPr>
              <a:t>Welcome to this AWS Student Builder Group session, where we turn local backend code into a service that real users can reach.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327648" y="1993392"/>
            <a:ext cx="5413248" cy="1956816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327648" y="1993392"/>
            <a:ext cx="82296" cy="1956816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80" y="2157984"/>
            <a:ext cx="12801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55F7"/>
                </a:solidFill>
                <a:latin typeface="JetBrains Mono"/>
                <a:ea typeface="JetBrains Mono"/>
              </a:rPr>
              <a:t>02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83680" y="2450592"/>
            <a:ext cx="4901183" cy="13350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5E7EB"/>
                </a:solidFill>
                <a:latin typeface="Inter"/>
                <a:ea typeface="Inter"/>
              </a:rPr>
              <a:t>I am Gilbert Chris, Founder at Remoteflow, and I will walk you from a working laptop API to a production-minded AWS deploy.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38912" y="4114800"/>
            <a:ext cx="5413248" cy="1956816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38912" y="4114800"/>
            <a:ext cx="82296" cy="1956816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94944" y="4279392"/>
            <a:ext cx="12801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55F7"/>
                </a:solidFill>
                <a:latin typeface="JetBrains Mono"/>
                <a:ea typeface="JetBrains Mono"/>
              </a:rPr>
              <a:t>03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" y="4572000"/>
            <a:ext cx="4901183" cy="13350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5E7EB"/>
                </a:solidFill>
                <a:latin typeface="Inter"/>
                <a:ea typeface="Inter"/>
              </a:rPr>
              <a:t>Tonight is for student builders who already write routes and queries, and now want those apps to survive traffic, secrets, and failure.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327648" y="4114800"/>
            <a:ext cx="5413248" cy="1956816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327648" y="4114800"/>
            <a:ext cx="82296" cy="1956816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583680" y="4279392"/>
            <a:ext cx="12801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55F7"/>
                </a:solidFill>
                <a:latin typeface="JetBrains Mono"/>
                <a:ea typeface="JetBrains Mono"/>
              </a:rPr>
              <a:t>04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83680" y="4572000"/>
            <a:ext cx="4901183" cy="13350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5E7EB"/>
                </a:solidFill>
                <a:latin typeface="Inter"/>
                <a:ea typeface="Inter"/>
              </a:rPr>
              <a:t>Stay with the flow, follow the demo, and leave knowing the exact next ship you can make after this workshop.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84048" y="6510528"/>
            <a:ext cx="11430000" cy="10972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84048" y="6547104"/>
            <a:ext cx="7863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JetBrains Mono"/>
                <a:ea typeface="JetBrains Mono"/>
              </a:rPr>
              <a:t>AWS STUDENT BUILDER GROUP  ·  JKUAT  ·  19 AUGUST 2026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46920" y="6547104"/>
            <a:ext cx="2103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4B5FD"/>
                </a:solidFill>
                <a:latin typeface="JetBrains Mono"/>
                <a:ea typeface="JetBrains Mono"/>
              </a:rPr>
              <a:t>01  / 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521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361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202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042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8833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7238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2452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0857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9262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7667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72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4476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2881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286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9691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6500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4905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3310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1715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0120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9852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692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533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1373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5214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9054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8404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76809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115214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153619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192024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230428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268833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307238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345643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84048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422452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60857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499262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37667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76072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14476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52881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0"/>
            <a:ext cx="77724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75720" y="0"/>
            <a:ext cx="713232" cy="2560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841480" y="256032"/>
            <a:ext cx="34747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137392" y="0"/>
            <a:ext cx="338328" cy="16459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510528"/>
            <a:ext cx="502920" cy="34747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6656832"/>
            <a:ext cx="292608" cy="2011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686032" y="6565392"/>
            <a:ext cx="502920" cy="29260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338560" y="6748272"/>
            <a:ext cx="256032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8912" y="292608"/>
            <a:ext cx="201168" cy="73152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21945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B5FD"/>
                </a:solidFill>
                <a:latin typeface="JetBrains Mono"/>
                <a:ea typeface="JetBrains Mono"/>
              </a:rPr>
              <a:t>THE LOCAL STARTING POINT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912" y="475488"/>
            <a:ext cx="111556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  <a:ea typeface="Inter"/>
              </a:rPr>
              <a:t>What a modern backend really is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8912" y="1481328"/>
            <a:ext cx="5413248" cy="2011680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38912" y="1481328"/>
            <a:ext cx="82296" cy="20116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4944" y="1645920"/>
            <a:ext cx="12801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55F7"/>
                </a:solidFill>
                <a:latin typeface="JetBrains Mono"/>
                <a:ea typeface="JetBrains Mono"/>
              </a:rPr>
              <a:t>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" y="1938528"/>
            <a:ext cx="4901183" cy="13898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5E7EB"/>
                </a:solidFill>
                <a:latin typeface="Inter"/>
                <a:ea typeface="Inter"/>
              </a:rPr>
              <a:t>A modern backend is more than a framework folder that answers on localhost:8000.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327648" y="1481328"/>
            <a:ext cx="5413248" cy="2011680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327648" y="1481328"/>
            <a:ext cx="82296" cy="20116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0" y="1645920"/>
            <a:ext cx="12801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55F7"/>
                </a:solidFill>
                <a:latin typeface="JetBrains Mono"/>
                <a:ea typeface="JetBrains Mono"/>
              </a:rPr>
              <a:t>02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83680" y="1938528"/>
            <a:ext cx="4901183" cy="13898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5E7EB"/>
                </a:solidFill>
                <a:latin typeface="Inter"/>
                <a:ea typeface="Inter"/>
              </a:rPr>
              <a:t>Production code must keep secrets out of git, recover from crashes, and tell you when something breaks.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38912" y="3694176"/>
            <a:ext cx="5413248" cy="2011680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38912" y="3694176"/>
            <a:ext cx="82296" cy="20116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94944" y="3858768"/>
            <a:ext cx="12801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55F7"/>
                </a:solidFill>
                <a:latin typeface="JetBrains Mono"/>
                <a:ea typeface="JetBrains Mono"/>
              </a:rPr>
              <a:t>03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4944" y="4151376"/>
            <a:ext cx="4901183" cy="13898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5E7EB"/>
                </a:solidFill>
                <a:latin typeface="Inter"/>
                <a:ea typeface="Inter"/>
              </a:rPr>
              <a:t>Many student projects stop at it works on my machine, and that gap is exactly what we close tonight.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327648" y="3694176"/>
            <a:ext cx="5413248" cy="2011680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327648" y="3694176"/>
            <a:ext cx="82296" cy="20116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583680" y="3858768"/>
            <a:ext cx="12801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55F7"/>
                </a:solidFill>
                <a:latin typeface="JetBrains Mono"/>
                <a:ea typeface="JetBrains Mono"/>
              </a:rPr>
              <a:t>04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83680" y="4151376"/>
            <a:ext cx="4901183" cy="13898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5E7EB"/>
                </a:solidFill>
                <a:latin typeface="Inter"/>
                <a:ea typeface="Inter"/>
              </a:rPr>
              <a:t>Treat your API as a product with identity, storage, logs, and a repeatable path from commit to cloud.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84048" y="6510528"/>
            <a:ext cx="11430000" cy="10972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84048" y="6547104"/>
            <a:ext cx="7863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JetBrains Mono"/>
                <a:ea typeface="JetBrains Mono"/>
              </a:rPr>
              <a:t>AWS STUDENT BUILDER GROUP  ·  JKUAT  ·  19 AUGUST 2026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46920" y="6547104"/>
            <a:ext cx="2103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4B5FD"/>
                </a:solidFill>
                <a:latin typeface="JetBrains Mono"/>
                <a:ea typeface="JetBrains Mono"/>
              </a:rPr>
              <a:t>02  / 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521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361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202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042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8833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7238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2452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0857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9262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7667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72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4476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2881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286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9691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6500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4905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3310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1715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0120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9852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692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533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1373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5214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9054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8404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76809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115214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153619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192024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230428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268833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307238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345643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84048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422452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60857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499262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37667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76072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14476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52881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0"/>
            <a:ext cx="77724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75720" y="0"/>
            <a:ext cx="713232" cy="2560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841480" y="256032"/>
            <a:ext cx="34747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137392" y="0"/>
            <a:ext cx="338328" cy="16459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510528"/>
            <a:ext cx="502920" cy="34747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6656832"/>
            <a:ext cx="292608" cy="2011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686032" y="6565392"/>
            <a:ext cx="502920" cy="29260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338560" y="6748272"/>
            <a:ext cx="256032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8912" y="292608"/>
            <a:ext cx="201168" cy="73152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21945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B5FD"/>
                </a:solidFill>
                <a:latin typeface="JetBrains Mono"/>
                <a:ea typeface="JetBrains Mono"/>
              </a:rPr>
              <a:t>THE PLATFORM CHOICE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912" y="475488"/>
            <a:ext cx="111556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  <a:ea typeface="Inter"/>
              </a:rPr>
              <a:t>Why we deploy this on AWS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8912" y="1481328"/>
            <a:ext cx="5413248" cy="2011680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38912" y="1481328"/>
            <a:ext cx="82296" cy="20116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4944" y="1645920"/>
            <a:ext cx="12801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55F7"/>
                </a:solidFill>
                <a:latin typeface="JetBrains Mono"/>
                <a:ea typeface="JetBrains Mono"/>
              </a:rPr>
              <a:t>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" y="1938528"/>
            <a:ext cx="4901183" cy="13898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5E7EB"/>
                </a:solidFill>
                <a:latin typeface="Inter"/>
                <a:ea typeface="Inter"/>
              </a:rPr>
              <a:t>AWS gives student builders the same compute, data, and security primitives that real companies compose in production.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327648" y="1481328"/>
            <a:ext cx="5413248" cy="2011680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327648" y="1481328"/>
            <a:ext cx="82296" cy="20116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0" y="1645920"/>
            <a:ext cx="12801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55F7"/>
                </a:solidFill>
                <a:latin typeface="JetBrains Mono"/>
                <a:ea typeface="JetBrains Mono"/>
              </a:rPr>
              <a:t>02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83680" y="1938528"/>
            <a:ext cx="4901183" cy="13898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5E7EB"/>
                </a:solidFill>
                <a:latin typeface="Inter"/>
                <a:ea typeface="Inter"/>
              </a:rPr>
              <a:t>You stop babysitting one fragile VPS and start assembling services that scale, fail independently, and can be replaced.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38912" y="3694176"/>
            <a:ext cx="5413248" cy="2011680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38912" y="3694176"/>
            <a:ext cx="82296" cy="20116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94944" y="3858768"/>
            <a:ext cx="12801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55F7"/>
                </a:solidFill>
                <a:latin typeface="JetBrains Mono"/>
                <a:ea typeface="JetBrains Mono"/>
              </a:rPr>
              <a:t>03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4944" y="4151376"/>
            <a:ext cx="4901183" cy="13898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5E7EB"/>
                </a:solidFill>
                <a:latin typeface="Inter"/>
                <a:ea typeface="Inter"/>
              </a:rPr>
              <a:t>A generous free tier plus global regions means you can learn production thinking without needing a data center.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327648" y="3694176"/>
            <a:ext cx="5413248" cy="2011680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327648" y="3694176"/>
            <a:ext cx="82296" cy="20116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583680" y="3858768"/>
            <a:ext cx="12801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55F7"/>
                </a:solidFill>
                <a:latin typeface="JetBrains Mono"/>
                <a:ea typeface="JetBrains Mono"/>
              </a:rPr>
              <a:t>04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83680" y="4151376"/>
            <a:ext cx="4901183" cy="13898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5E7EB"/>
                </a:solidFill>
                <a:latin typeface="Inter"/>
                <a:ea typeface="Inter"/>
              </a:rPr>
              <a:t>Choose AWS when you want elasticity, managed databases, and a career-shaped skill that still fits a student budget.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84048" y="6510528"/>
            <a:ext cx="11430000" cy="10972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84048" y="6547104"/>
            <a:ext cx="7863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JetBrains Mono"/>
                <a:ea typeface="JetBrains Mono"/>
              </a:rPr>
              <a:t>AWS STUDENT BUILDER GROUP  ·  JKUAT  ·  19 AUGUST 2026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46920" y="6547104"/>
            <a:ext cx="2103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4B5FD"/>
                </a:solidFill>
                <a:latin typeface="JetBrains Mono"/>
                <a:ea typeface="JetBrains Mono"/>
              </a:rPr>
              <a:t>03  / 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521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361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202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042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8833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7238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2452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0857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9262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7667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72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4476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2881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286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9691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6500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4905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3310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1715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0120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9852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692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533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1373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5214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9054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8404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76809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115214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153619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192024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230428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268833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307238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345643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84048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422452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60857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499262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37667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76072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14476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52881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0"/>
            <a:ext cx="77724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75720" y="0"/>
            <a:ext cx="713232" cy="2560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841480" y="256032"/>
            <a:ext cx="34747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137392" y="0"/>
            <a:ext cx="338328" cy="16459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510528"/>
            <a:ext cx="502920" cy="34747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6656832"/>
            <a:ext cx="292608" cy="2011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686032" y="6565392"/>
            <a:ext cx="502920" cy="29260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338560" y="6748272"/>
            <a:ext cx="256032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8912" y="292608"/>
            <a:ext cx="201168" cy="73152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21945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B5FD"/>
                </a:solidFill>
                <a:latin typeface="JetBrains Mono"/>
                <a:ea typeface="JetBrains Mono"/>
              </a:rPr>
              <a:t>THE MAP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912" y="475488"/>
            <a:ext cx="111556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  <a:ea typeface="Inter"/>
              </a:rPr>
              <a:t>Architecture we will ship tonight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8912" y="1481328"/>
            <a:ext cx="5413248" cy="2011680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38912" y="1481328"/>
            <a:ext cx="82296" cy="20116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4944" y="1645920"/>
            <a:ext cx="12801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55F7"/>
                </a:solidFill>
                <a:latin typeface="JetBrains Mono"/>
                <a:ea typeface="JetBrains Mono"/>
              </a:rPr>
              <a:t>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" y="1938528"/>
            <a:ext cx="4901183" cy="13898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5E7EB"/>
                </a:solidFill>
                <a:latin typeface="Inter"/>
                <a:ea typeface="Inter"/>
              </a:rPr>
              <a:t>Clients reach a public HTTPS load balancer, which forwards traffic to our container.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327648" y="1481328"/>
            <a:ext cx="5413248" cy="2011680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327648" y="1481328"/>
            <a:ext cx="82296" cy="20116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0" y="1645920"/>
            <a:ext cx="12801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55F7"/>
                </a:solidFill>
                <a:latin typeface="JetBrains Mono"/>
                <a:ea typeface="JetBrains Mono"/>
              </a:rPr>
              <a:t>02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83680" y="1938528"/>
            <a:ext cx="4901183" cy="13898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5E7EB"/>
                </a:solidFill>
                <a:latin typeface="Inter"/>
                <a:ea typeface="Inter"/>
              </a:rPr>
              <a:t>The application runs on Amazon ECS Express Mode on Fargate, so we never SSH into a snowflake server.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38912" y="3694176"/>
            <a:ext cx="5413248" cy="2011680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38912" y="3694176"/>
            <a:ext cx="82296" cy="20116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94944" y="3858768"/>
            <a:ext cx="12801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55F7"/>
                </a:solidFill>
                <a:latin typeface="JetBrains Mono"/>
                <a:ea typeface="JetBrains Mono"/>
              </a:rPr>
              <a:t>03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4944" y="4151376"/>
            <a:ext cx="4901183" cy="13898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5E7EB"/>
                </a:solidFill>
                <a:latin typeface="Inter"/>
                <a:ea typeface="Inter"/>
              </a:rPr>
              <a:t>State lives in Amazon RDS, and every secret comes from Secrets Manager instead of a committed .env file.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327648" y="3694176"/>
            <a:ext cx="5413248" cy="2011680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327648" y="3694176"/>
            <a:ext cx="82296" cy="20116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583680" y="3858768"/>
            <a:ext cx="12801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55F7"/>
                </a:solidFill>
                <a:latin typeface="JetBrains Mono"/>
                <a:ea typeface="JetBrains Mono"/>
              </a:rPr>
              <a:t>04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83680" y="4151376"/>
            <a:ext cx="4901183" cy="13898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5E7EB"/>
                </a:solidFill>
                <a:latin typeface="Inter"/>
                <a:ea typeface="Inter"/>
              </a:rPr>
              <a:t>CloudWatch collects logs and metrics so we can see errors before a classmate in the chat reports them.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84048" y="6510528"/>
            <a:ext cx="11430000" cy="10972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84048" y="6547104"/>
            <a:ext cx="7863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JetBrains Mono"/>
                <a:ea typeface="JetBrains Mono"/>
              </a:rPr>
              <a:t>AWS STUDENT BUILDER GROUP  ·  JKUAT  ·  19 AUGUST 2026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46920" y="6547104"/>
            <a:ext cx="2103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4B5FD"/>
                </a:solidFill>
                <a:latin typeface="JetBrains Mono"/>
                <a:ea typeface="JetBrains Mono"/>
              </a:rPr>
              <a:t>04  / 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521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361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202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042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8833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7238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2452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0857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9262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7667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72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4476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2881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286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9691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6500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4905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3310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1715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0120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9852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692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533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1373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5214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9054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8404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76809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115214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153619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192024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230428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268833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307238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345643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84048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422452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60857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499262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37667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76072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14476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52881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0"/>
            <a:ext cx="77724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75720" y="0"/>
            <a:ext cx="713232" cy="2560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841480" y="256032"/>
            <a:ext cx="34747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137392" y="0"/>
            <a:ext cx="338328" cy="16459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510528"/>
            <a:ext cx="502920" cy="34747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6656832"/>
            <a:ext cx="292608" cy="2011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686032" y="6565392"/>
            <a:ext cx="502920" cy="29260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338560" y="6748272"/>
            <a:ext cx="256032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8912" y="292608"/>
            <a:ext cx="201168" cy="73152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21945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B5FD"/>
                </a:solidFill>
                <a:latin typeface="JetBrains Mono"/>
                <a:ea typeface="JetBrains Mono"/>
              </a:rPr>
              <a:t>LIVE DEMO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912" y="475488"/>
            <a:ext cx="111556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  <a:ea typeface="Inter"/>
              </a:rPr>
              <a:t>Console first, laptop only for code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8912" y="1481328"/>
            <a:ext cx="11301984" cy="1060704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438912" y="1481328"/>
            <a:ext cx="1060704" cy="1060704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38912" y="1481328"/>
            <a:ext cx="91440" cy="106070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8912" y="1755648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JetBrains Mono"/>
                <a:ea typeface="JetBrains Mono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37360" y="1737360"/>
            <a:ext cx="969264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E5E7EB"/>
                </a:solidFill>
                <a:latin typeface="Inter"/>
                <a:ea typeface="Inter"/>
              </a:rPr>
              <a:t>Split the screen: PowerShell on the left for your API, and the AWS Console on the right for every cloud service.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8912" y="2651760"/>
            <a:ext cx="11301984" cy="1060704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38912" y="2651760"/>
            <a:ext cx="1060704" cy="1060704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38912" y="2651760"/>
            <a:ext cx="91440" cy="106070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38912" y="2926080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JetBrains Mono"/>
                <a:ea typeface="JetBrains Mono"/>
              </a:rPr>
              <a:t>02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737360" y="2907792"/>
            <a:ext cx="969264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E5E7EB"/>
                </a:solidFill>
                <a:latin typeface="Inter"/>
                <a:ea typeface="Inter"/>
              </a:rPr>
              <a:t>Stay in N. Virginia, zoom the browser, and use curl.exe on Windows because curl is not real curl.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38912" y="3822191"/>
            <a:ext cx="11301984" cy="1060704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438912" y="3822191"/>
            <a:ext cx="1060704" cy="1060704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38912" y="3822191"/>
            <a:ext cx="91440" cy="106070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38912" y="4096511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JetBrains Mono"/>
                <a:ea typeface="JetBrains Mono"/>
              </a:rPr>
              <a:t>03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37360" y="4078224"/>
            <a:ext cx="969264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E5E7EB"/>
                </a:solidFill>
                <a:latin typeface="Inter"/>
                <a:ea typeface="Inter"/>
              </a:rPr>
              <a:t>We pack the same FastAPI app in Docker, store it in ECR, then click Express Mode, Secrets Manager, RDS, and CloudWatch.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38912" y="4992624"/>
            <a:ext cx="11301984" cy="1060704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438912" y="4992624"/>
            <a:ext cx="1060704" cy="1060704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38912" y="4992624"/>
            <a:ext cx="91440" cy="106070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8912" y="5266944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JetBrains Mono"/>
                <a:ea typeface="JetBrains Mono"/>
              </a:rPr>
              <a:t>04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737360" y="5248656"/>
            <a:ext cx="969264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E5E7EB"/>
                </a:solidFill>
                <a:latin typeface="Inter"/>
                <a:ea typeface="Inter"/>
              </a:rPr>
              <a:t>When /health says cloud and /db returns ping 1, the identical API is live in AWS.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84048" y="6510528"/>
            <a:ext cx="11430000" cy="10972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84048" y="6547104"/>
            <a:ext cx="7863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JetBrains Mono"/>
                <a:ea typeface="JetBrains Mono"/>
              </a:rPr>
              <a:t>AWS STUDENT BUILDER GROUP  ·  JKUAT  ·  19 AUGUST 2026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646920" y="6547104"/>
            <a:ext cx="2103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4B5FD"/>
                </a:solidFill>
                <a:latin typeface="JetBrains Mono"/>
                <a:ea typeface="JetBrains Mono"/>
              </a:rPr>
              <a:t>05  / 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521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361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202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042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8833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7238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2452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0857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9262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7667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72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4476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2881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286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9691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6500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4905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3310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1715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0120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9852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692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533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1373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5214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9054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8404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76809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115214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153619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192024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230428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268833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307238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345643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84048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422452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60857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499262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37667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76072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14476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52881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0"/>
            <a:ext cx="77724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75720" y="0"/>
            <a:ext cx="713232" cy="2560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841480" y="256032"/>
            <a:ext cx="34747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137392" y="0"/>
            <a:ext cx="338328" cy="16459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510528"/>
            <a:ext cx="502920" cy="34747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6656832"/>
            <a:ext cx="292608" cy="2011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686032" y="6565392"/>
            <a:ext cx="502920" cy="29260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338560" y="6748272"/>
            <a:ext cx="256032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8912" y="292608"/>
            <a:ext cx="201168" cy="73152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21945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B5FD"/>
                </a:solidFill>
                <a:latin typeface="JetBrains Mono"/>
                <a:ea typeface="JetBrains Mono"/>
              </a:rPr>
              <a:t>BEATS 1 AND 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912" y="475488"/>
            <a:ext cx="111556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  <a:ea typeface="Inter"/>
              </a:rPr>
              <a:t>Laptop and Docker — PowerShell only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8912" y="1444752"/>
            <a:ext cx="11301984" cy="1078992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438912" y="1444752"/>
            <a:ext cx="1060704" cy="107899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38912" y="1444752"/>
            <a:ext cx="91440" cy="107899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8912" y="1737360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JetBrains Mono"/>
                <a:ea typeface="JetBrains Mono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00784" y="1554480"/>
            <a:ext cx="9784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B5FD"/>
                </a:solidFill>
                <a:latin typeface="Inter"/>
                <a:ea typeface="Inter"/>
              </a:rPr>
              <a:t>Start the API from talks/2026-08-19-backend-to-cloud/demo.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700784" y="1883664"/>
            <a:ext cx="97840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JetBrains Mono"/>
                <a:ea typeface="JetBrains Mono"/>
              </a:rPr>
              <a:t>python -m pip install -r requirements.txt   then   python -m uvicorn app:app --reload --host 0.0.0.0 --port 8000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38912" y="2633472"/>
            <a:ext cx="11301984" cy="1078992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438912" y="2633472"/>
            <a:ext cx="1060704" cy="107899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38912" y="2633472"/>
            <a:ext cx="91440" cy="107899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8912" y="2926079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JetBrains Mono"/>
                <a:ea typeface="JetBrains Mono"/>
              </a:rPr>
              <a:t>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700784" y="2743200"/>
            <a:ext cx="9784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B5FD"/>
                </a:solidFill>
                <a:latin typeface="Inter"/>
                <a:ea typeface="Inter"/>
              </a:rPr>
              <a:t>Prove localhost works; /health must show stage local.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700784" y="3072384"/>
            <a:ext cx="97840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JetBrains Mono"/>
                <a:ea typeface="JetBrains Mono"/>
              </a:rPr>
              <a:t>curl.exe http://localhost:8000/health    curl.exe http://localhost:8000/    curl.exe -X POST http://localhost:8000/echo -H "Content-Type: application/json" -d "{\"message\":\"JKUAT to the cloud\"}"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38912" y="3822191"/>
            <a:ext cx="11301984" cy="1078992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38912" y="3822191"/>
            <a:ext cx="1060704" cy="107899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38912" y="3822191"/>
            <a:ext cx="91440" cy="107899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8912" y="4114800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JetBrains Mono"/>
                <a:ea typeface="JetBrains Mono"/>
              </a:rPr>
              <a:t>03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00784" y="3931920"/>
            <a:ext cx="9784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B5FD"/>
                </a:solidFill>
                <a:latin typeface="Inter"/>
                <a:ea typeface="Inter"/>
              </a:rPr>
              <a:t>Stop uvicorn, then wrap the same app in a container.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00784" y="4261104"/>
            <a:ext cx="97840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JetBrains Mono"/>
                <a:ea typeface="JetBrains Mono"/>
              </a:rPr>
              <a:t>docker build -t workshop-api .    &amp;&amp;    docker run --rm -p 8000:8000 workshop-api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38912" y="5010912"/>
            <a:ext cx="11301984" cy="1078992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438912" y="5010912"/>
            <a:ext cx="1060704" cy="107899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38912" y="5010912"/>
            <a:ext cx="91440" cy="107899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38912" y="5303520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JetBrains Mono"/>
                <a:ea typeface="JetBrains Mono"/>
              </a:rPr>
              <a:t>04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700784" y="5120640"/>
            <a:ext cx="9784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B5FD"/>
                </a:solidFill>
                <a:latin typeface="Inter"/>
                <a:ea typeface="Inter"/>
              </a:rPr>
              <a:t>Repeat the three curl.exe calls against localhost; the JSON must match.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700784" y="5449824"/>
            <a:ext cx="97840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JetBrains Mono"/>
                <a:ea typeface="JetBrains Mono"/>
              </a:rPr>
              <a:t>If Docker _ping 500: start Docker Desktop, wait for Engine running, open a new PowerShell.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84048" y="6510528"/>
            <a:ext cx="11430000" cy="10972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84048" y="6547104"/>
            <a:ext cx="7863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JetBrains Mono"/>
                <a:ea typeface="JetBrains Mono"/>
              </a:rPr>
              <a:t>AWS STUDENT BUILDER GROUP  ·  JKUAT  ·  19 AUGUST 2026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46920" y="6547104"/>
            <a:ext cx="2103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4B5FD"/>
                </a:solidFill>
                <a:latin typeface="JetBrains Mono"/>
                <a:ea typeface="JetBrains Mono"/>
              </a:rPr>
              <a:t>06  / 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521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361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202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042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8833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7238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2452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0857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9262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7667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72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4476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2881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286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9691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6500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4905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3310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1715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0120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9852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692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533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1373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5214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9054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8404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76809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115214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153619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192024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230428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268833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307238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345643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84048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422452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60857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499262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37667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76072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14476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52881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0"/>
            <a:ext cx="77724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75720" y="0"/>
            <a:ext cx="713232" cy="2560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841480" y="256032"/>
            <a:ext cx="34747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137392" y="0"/>
            <a:ext cx="338328" cy="16459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510528"/>
            <a:ext cx="502920" cy="34747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6656832"/>
            <a:ext cx="292608" cy="2011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686032" y="6565392"/>
            <a:ext cx="502920" cy="29260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338560" y="6748272"/>
            <a:ext cx="256032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8912" y="292608"/>
            <a:ext cx="201168" cy="73152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21945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B5FD"/>
                </a:solidFill>
                <a:latin typeface="JetBrains Mono"/>
                <a:ea typeface="JetBrains Mono"/>
              </a:rPr>
              <a:t>BEAT 3 · AWS CONSOLE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912" y="475488"/>
            <a:ext cx="111556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  <a:ea typeface="Inter"/>
              </a:rPr>
              <a:t>ECR — store the Docker box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8912" y="1444752"/>
            <a:ext cx="11301984" cy="1078992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438912" y="1444752"/>
            <a:ext cx="1060704" cy="107899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38912" y="1444752"/>
            <a:ext cx="91440" cy="107899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8912" y="1737360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JetBrains Mono"/>
                <a:ea typeface="JetBrains Mono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00784" y="1554480"/>
            <a:ext cx="9784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B5FD"/>
                </a:solidFill>
                <a:latin typeface="Inter"/>
                <a:ea typeface="Inter"/>
              </a:rPr>
              <a:t>Search ECR, then create a private repository named workshop-api.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700784" y="1883664"/>
            <a:ext cx="97840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JetBrains Mono"/>
                <a:ea typeface="JetBrains Mono"/>
              </a:rPr>
              <a:t>Console: Elastic Container Registry  →  Repositories  →  Create repository  →  Private  →  workshop-api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38912" y="2633472"/>
            <a:ext cx="11301984" cy="1078992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438912" y="2633472"/>
            <a:ext cx="1060704" cy="107899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38912" y="2633472"/>
            <a:ext cx="91440" cy="107899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8912" y="2926079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JetBrains Mono"/>
                <a:ea typeface="JetBrains Mono"/>
              </a:rPr>
              <a:t>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700784" y="2743200"/>
            <a:ext cx="9784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B5FD"/>
                </a:solidFill>
                <a:latin typeface="Inter"/>
                <a:ea typeface="Inter"/>
              </a:rPr>
              <a:t>Open View push commands and choose the Windows tab.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700784" y="3072384"/>
            <a:ext cx="97840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JetBrains Mono"/>
                <a:ea typeface="JetBrains Mono"/>
              </a:rPr>
              <a:t>aws ecr get-login-password --region us-east-1 | docker login --username AWS --password-stdin ACCOUNT.dkr.ecr.us-east-1.amazonaws.com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38912" y="3822191"/>
            <a:ext cx="11301984" cy="1078992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38912" y="3822191"/>
            <a:ext cx="1060704" cy="107899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38912" y="3822191"/>
            <a:ext cx="91440" cy="107899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8912" y="4114800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JetBrains Mono"/>
                <a:ea typeface="JetBrains Mono"/>
              </a:rPr>
              <a:t>03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00784" y="3931920"/>
            <a:ext cx="9784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B5FD"/>
                </a:solidFill>
                <a:latin typeface="Inter"/>
                <a:ea typeface="Inter"/>
              </a:rPr>
              <a:t>Tag and push the image you already built.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00784" y="4261104"/>
            <a:ext cx="97840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JetBrains Mono"/>
                <a:ea typeface="JetBrains Mono"/>
              </a:rPr>
              <a:t>docker tag workshop-api:latest ACCOUNT.dkr.ecr.us-east-1.amazonaws.com/workshop-api:latest    &amp;&amp;    docker push .../workshop-api:latest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38912" y="5010912"/>
            <a:ext cx="11301984" cy="1078992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438912" y="5010912"/>
            <a:ext cx="1060704" cy="107899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38912" y="5010912"/>
            <a:ext cx="91440" cy="107899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38912" y="5303520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JetBrains Mono"/>
                <a:ea typeface="JetBrains Mono"/>
              </a:rPr>
              <a:t>04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700784" y="5120640"/>
            <a:ext cx="9784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B5FD"/>
                </a:solidFill>
                <a:latin typeface="Inter"/>
                <a:ea typeface="Inter"/>
              </a:rPr>
              <a:t>Refresh the repository until tag latest appears.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700784" y="5449824"/>
            <a:ext cx="97840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JetBrains Mono"/>
                <a:ea typeface="JetBrains Mono"/>
              </a:rPr>
              <a:t>ECR is the warehouse; ECS can only run a box that is stored here.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84048" y="6510528"/>
            <a:ext cx="11430000" cy="10972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84048" y="6547104"/>
            <a:ext cx="7863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JetBrains Mono"/>
                <a:ea typeface="JetBrains Mono"/>
              </a:rPr>
              <a:t>AWS STUDENT BUILDER GROUP  ·  JKUAT  ·  19 AUGUST 2026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46920" y="6547104"/>
            <a:ext cx="2103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4B5FD"/>
                </a:solidFill>
                <a:latin typeface="JetBrains Mono"/>
                <a:ea typeface="JetBrains Mono"/>
              </a:rPr>
              <a:t>07  / 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521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361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202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042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8833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7238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2452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0857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9262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7667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72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4476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2881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286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9691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6500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4905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3310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1715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0120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9852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692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533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1373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5214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9054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8404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76809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115214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153619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192024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230428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268833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307238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345643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84048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422452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60857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499262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37667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76072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14476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52881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0"/>
            <a:ext cx="77724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75720" y="0"/>
            <a:ext cx="713232" cy="2560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841480" y="256032"/>
            <a:ext cx="34747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137392" y="0"/>
            <a:ext cx="338328" cy="16459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510528"/>
            <a:ext cx="502920" cy="34747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6656832"/>
            <a:ext cx="292608" cy="2011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686032" y="6565392"/>
            <a:ext cx="502920" cy="29260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338560" y="6748272"/>
            <a:ext cx="256032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8912" y="292608"/>
            <a:ext cx="201168" cy="73152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21945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B5FD"/>
                </a:solidFill>
                <a:latin typeface="JetBrains Mono"/>
                <a:ea typeface="JetBrains Mono"/>
              </a:rPr>
              <a:t>BEATS 4 AND 5 · AWS CONSOLE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912" y="475488"/>
            <a:ext cx="111556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  <a:ea typeface="Inter"/>
              </a:rPr>
              <a:t>Secrets Manager and ECS Express Mode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8912" y="1444752"/>
            <a:ext cx="11301984" cy="1078992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438912" y="1444752"/>
            <a:ext cx="1060704" cy="107899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38912" y="1444752"/>
            <a:ext cx="91440" cy="107899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8912" y="1737360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JetBrains Mono"/>
                <a:ea typeface="JetBrains Mono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00784" y="1554480"/>
            <a:ext cx="9784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B5FD"/>
                </a:solidFill>
                <a:latin typeface="Inter"/>
                <a:ea typeface="Inter"/>
              </a:rPr>
              <a:t>Store a secret named workshop/api; do not retrieve the value on the projector.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700784" y="1883664"/>
            <a:ext cx="97840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JetBrains Mono"/>
                <a:ea typeface="JetBrains Mono"/>
              </a:rPr>
              <a:t>Console: Secrets Manager  →  Store a new secret  →  Other type  →  name workshop/api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38912" y="2633472"/>
            <a:ext cx="11301984" cy="1078992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438912" y="2633472"/>
            <a:ext cx="1060704" cy="107899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38912" y="2633472"/>
            <a:ext cx="91440" cy="107899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8912" y="2926079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JetBrains Mono"/>
                <a:ea typeface="JetBrains Mono"/>
              </a:rPr>
              <a:t>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700784" y="2743200"/>
            <a:ext cx="9784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B5FD"/>
                </a:solidFill>
                <a:latin typeface="Inter"/>
                <a:ea typeface="Inter"/>
              </a:rPr>
              <a:t>Create the service from the ECR image; let the console create both IAM roles.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700784" y="3072384"/>
            <a:ext cx="97840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JetBrains Mono"/>
                <a:ea typeface="JetBrains Mono"/>
              </a:rPr>
              <a:t>Console: ECS  →  Express mode  →  Create  →  Browse ECR  →  workshop-api  →  latest  →  Create new role × 2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38912" y="3822191"/>
            <a:ext cx="11301984" cy="1078992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38912" y="3822191"/>
            <a:ext cx="1060704" cy="107899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38912" y="3822191"/>
            <a:ext cx="91440" cy="107899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8912" y="4114800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JetBrains Mono"/>
                <a:ea typeface="JetBrains Mono"/>
              </a:rPr>
              <a:t>03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00784" y="3931920"/>
            <a:ext cx="9784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B5FD"/>
                </a:solidFill>
                <a:latin typeface="Inter"/>
                <a:ea typeface="Inter"/>
              </a:rPr>
              <a:t>Open Additional configurations and set the port, health check, and stage.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00784" y="4261104"/>
            <a:ext cx="97840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JetBrains Mono"/>
                <a:ea typeface="JetBrains Mono"/>
              </a:rPr>
              <a:t>Name workshop-api   ·   Container port 8000   ·   Health check /health   ·   APP_STAGE=cloud   ·   PORT=8000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38912" y="5010912"/>
            <a:ext cx="11301984" cy="1078992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438912" y="5010912"/>
            <a:ext cx="1060704" cy="107899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38912" y="5010912"/>
            <a:ext cx="91440" cy="107899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38912" y="5303520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JetBrains Mono"/>
                <a:ea typeface="JetBrains Mono"/>
              </a:rPr>
              <a:t>04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700784" y="5120640"/>
            <a:ext cx="9784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B5FD"/>
                </a:solidFill>
                <a:latin typeface="Inter"/>
                <a:ea typeface="Inter"/>
              </a:rPr>
              <a:t>Wait until Active, then copy the Application URL.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700784" y="5449824"/>
            <a:ext cx="97840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JetBrains Mono"/>
                <a:ea typeface="JetBrains Mono"/>
              </a:rPr>
              <a:t>https://workshop-api.ecs.us-east-1.on.aws    —    narrate ALB, Fargate, security groups, CloudWatch on the Timeline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84048" y="6510528"/>
            <a:ext cx="11430000" cy="10972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84048" y="6547104"/>
            <a:ext cx="7863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JetBrains Mono"/>
                <a:ea typeface="JetBrains Mono"/>
              </a:rPr>
              <a:t>AWS STUDENT BUILDER GROUP  ·  JKUAT  ·  19 AUGUST 2026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46920" y="6547104"/>
            <a:ext cx="2103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4B5FD"/>
                </a:solidFill>
                <a:latin typeface="JetBrains Mono"/>
                <a:ea typeface="JetBrains Mono"/>
              </a:rPr>
              <a:t>08  / 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521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361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202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042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8833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7238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2452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0857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9262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7667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72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4476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2881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286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9691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6500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4905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3310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1715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0120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9852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692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533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1373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5214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9054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8404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76809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115214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153619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192024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230428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268833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307238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345643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84048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422452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60857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499262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37667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76072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14476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52881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0"/>
            <a:ext cx="77724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75720" y="0"/>
            <a:ext cx="713232" cy="2560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841480" y="256032"/>
            <a:ext cx="34747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137392" y="0"/>
            <a:ext cx="338328" cy="16459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510528"/>
            <a:ext cx="502920" cy="34747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6656832"/>
            <a:ext cx="292608" cy="2011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686032" y="6565392"/>
            <a:ext cx="502920" cy="29260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338560" y="6748272"/>
            <a:ext cx="256032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8912" y="292608"/>
            <a:ext cx="201168" cy="73152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21945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B5FD"/>
                </a:solidFill>
                <a:latin typeface="JetBrains Mono"/>
                <a:ea typeface="JetBrains Mono"/>
              </a:rPr>
              <a:t>BEAT 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912" y="475488"/>
            <a:ext cx="111556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  <a:ea typeface="Inter"/>
              </a:rPr>
              <a:t>Same curls, now on the cloud URL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8912" y="1444752"/>
            <a:ext cx="11301984" cy="1078992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438912" y="1444752"/>
            <a:ext cx="1060704" cy="107899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38912" y="1444752"/>
            <a:ext cx="91440" cy="107899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8912" y="1737360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JetBrains Mono"/>
                <a:ea typeface="JetBrains Mono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00784" y="1554480"/>
            <a:ext cx="9784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B5FD"/>
                </a:solidFill>
                <a:latin typeface="Inter"/>
                <a:ea typeface="Inter"/>
              </a:rPr>
              <a:t>Paste your Application URL into PowerShell.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700784" y="1883664"/>
            <a:ext cx="97840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JetBrains Mono"/>
                <a:ea typeface="JetBrains Mono"/>
              </a:rPr>
              <a:t>$App = "https://workshop-api.ecs.us-east-1.on.aws"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38912" y="2633472"/>
            <a:ext cx="11301984" cy="1078992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438912" y="2633472"/>
            <a:ext cx="1060704" cy="107899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38912" y="2633472"/>
            <a:ext cx="91440" cy="107899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8912" y="2926079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JetBrains Mono"/>
                <a:ea typeface="JetBrains Mono"/>
              </a:rPr>
              <a:t>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700784" y="2743200"/>
            <a:ext cx="9784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B5FD"/>
                </a:solidFill>
                <a:latin typeface="Inter"/>
                <a:ea typeface="Inter"/>
              </a:rPr>
              <a:t>Replay the three requests; /health must show stage cloud.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700784" y="3072384"/>
            <a:ext cx="97840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JetBrains Mono"/>
                <a:ea typeface="JetBrains Mono"/>
              </a:rPr>
              <a:t>curl.exe $App/health    curl.exe $App/    curl.exe -X POST $App/echo -H "Content-Type: application/json" -d "{\"message\":\"JKUAT to the cloud\"}"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38912" y="3822191"/>
            <a:ext cx="11301984" cy="1078992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38912" y="3822191"/>
            <a:ext cx="1060704" cy="107899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38912" y="3822191"/>
            <a:ext cx="91440" cy="107899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8912" y="4114800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JetBrains Mono"/>
                <a:ea typeface="JetBrains Mono"/>
              </a:rPr>
              <a:t>03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00784" y="3931920"/>
            <a:ext cx="9784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B5FD"/>
                </a:solidFill>
                <a:latin typeface="Inter"/>
                <a:ea typeface="Inter"/>
              </a:rPr>
              <a:t>Open CloudWatch Logs and refresh after another /health.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00784" y="4261104"/>
            <a:ext cx="97840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JetBrains Mono"/>
                <a:ea typeface="JetBrains Mono"/>
              </a:rPr>
              <a:t>Console: CloudWatch  →  Logs  →  Log groups  →  newest stream  →  look for GET /health stage=cloud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38912" y="5010912"/>
            <a:ext cx="11301984" cy="1078992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438912" y="5010912"/>
            <a:ext cx="1060704" cy="107899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38912" y="5010912"/>
            <a:ext cx="91440" cy="107899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38912" y="5303520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JetBrains Mono"/>
                <a:ea typeface="JetBrains Mono"/>
              </a:rPr>
              <a:t>04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700784" y="5120640"/>
            <a:ext cx="9784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B5FD"/>
                </a:solidFill>
                <a:latin typeface="Inter"/>
                <a:ea typeface="Inter"/>
              </a:rPr>
              <a:t>That is the punchline: identical routes, different place.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700784" y="5449824"/>
            <a:ext cx="97840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JetBrains Mono"/>
                <a:ea typeface="JetBrains Mono"/>
              </a:rPr>
              <a:t>If health is unhealthy, the container port is still 80 — change it to 8000 and redeploy.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84048" y="6510528"/>
            <a:ext cx="11430000" cy="10972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84048" y="6547104"/>
            <a:ext cx="7863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JetBrains Mono"/>
                <a:ea typeface="JetBrains Mono"/>
              </a:rPr>
              <a:t>AWS STUDENT BUILDER GROUP  ·  JKUAT  ·  19 AUGUST 2026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46920" y="6547104"/>
            <a:ext cx="2103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4B5FD"/>
                </a:solidFill>
                <a:latin typeface="JetBrains Mono"/>
                <a:ea typeface="JetBrains Mono"/>
              </a:rPr>
              <a:t>09  / 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521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361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202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042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8833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7238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2452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0857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9262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7667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72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4476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2881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286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9691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6500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4905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3310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1715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0120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9852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692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533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1373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5214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9054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8404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76809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115214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153619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192024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230428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268833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307238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345643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84048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422452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60857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499262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37667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76072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14476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52881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0"/>
            <a:ext cx="77724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75720" y="0"/>
            <a:ext cx="713232" cy="2560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841480" y="256032"/>
            <a:ext cx="34747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137392" y="0"/>
            <a:ext cx="338328" cy="16459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510528"/>
            <a:ext cx="502920" cy="34747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6656832"/>
            <a:ext cx="292608" cy="2011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686032" y="6565392"/>
            <a:ext cx="502920" cy="29260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338560" y="6748272"/>
            <a:ext cx="256032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8912" y="292608"/>
            <a:ext cx="201168" cy="73152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21945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B5FD"/>
                </a:solidFill>
                <a:latin typeface="JetBrains Mono"/>
                <a:ea typeface="JetBrains Mono"/>
              </a:rPr>
              <a:t>BEAT 7 · AWS CONSOLE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912" y="475488"/>
            <a:ext cx="111556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  <a:ea typeface="Inter"/>
              </a:rPr>
              <a:t>RDS PostgreSQL — the filing cabinet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8912" y="1444752"/>
            <a:ext cx="11301984" cy="1078992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438912" y="1444752"/>
            <a:ext cx="1060704" cy="107899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38912" y="1444752"/>
            <a:ext cx="91440" cy="107899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8912" y="1737360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JetBrains Mono"/>
                <a:ea typeface="JetBrains Mono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00784" y="1554480"/>
            <a:ext cx="9784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B5FD"/>
                </a:solidFill>
                <a:latin typeface="Inter"/>
                <a:ea typeface="Inter"/>
              </a:rPr>
              <a:t>Create Postgres in the default VPC; wait until Available.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700784" y="1883664"/>
            <a:ext cx="97840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JetBrains Mono"/>
                <a:ea typeface="JetBrains Mono"/>
              </a:rPr>
              <a:t>RDS  →  Create database  →  PostgreSQL  →  workshop-db  →  user workshop  →  Public access No  →  SG workshop-db-sg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38912" y="2633472"/>
            <a:ext cx="11301984" cy="1078992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438912" y="2633472"/>
            <a:ext cx="1060704" cy="107899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38912" y="2633472"/>
            <a:ext cx="91440" cy="107899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8912" y="2926079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JetBrains Mono"/>
                <a:ea typeface="JetBrains Mono"/>
              </a:rPr>
              <a:t>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700784" y="2743200"/>
            <a:ext cx="9784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B5FD"/>
                </a:solidFill>
                <a:latin typeface="Inter"/>
                <a:ea typeface="Inter"/>
              </a:rPr>
              <a:t>Allow only the ECS task security group into port 5432.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700784" y="3072384"/>
            <a:ext cx="97840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JetBrains Mono"/>
                <a:ea typeface="JetBrains Mono"/>
              </a:rPr>
              <a:t>EC2  →  Security Groups  →  workshop-db-sg  →  Inbound  →  PostgreSQL 5432  →  source = task sg-...   never 0.0.0.0/0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38912" y="3822191"/>
            <a:ext cx="11301984" cy="1078992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38912" y="3822191"/>
            <a:ext cx="1060704" cy="107899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38912" y="3822191"/>
            <a:ext cx="91440" cy="107899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8912" y="4114800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JetBrains Mono"/>
                <a:ea typeface="JetBrains Mono"/>
              </a:rPr>
              <a:t>03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00784" y="3931920"/>
            <a:ext cx="9784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B5FD"/>
                </a:solidFill>
                <a:latin typeface="Inter"/>
                <a:ea typeface="Inter"/>
              </a:rPr>
              <a:t>Put the connection string in Secrets Manager, not in Git.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00784" y="4261104"/>
            <a:ext cx="97840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JetBrains Mono"/>
                <a:ea typeface="JetBrains Mono"/>
              </a:rPr>
              <a:t>Secret workshop/database-url  =  postgresql://workshop:PASSWORD@ENDPOINT:5432/workshop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38912" y="5010912"/>
            <a:ext cx="11301984" cy="1078992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438912" y="5010912"/>
            <a:ext cx="1060704" cy="107899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38912" y="5010912"/>
            <a:ext cx="91440" cy="107899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38912" y="5303520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JetBrains Mono"/>
                <a:ea typeface="JetBrains Mono"/>
              </a:rPr>
              <a:t>04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700784" y="5120640"/>
            <a:ext cx="9784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B5FD"/>
                </a:solidFill>
                <a:latin typeface="Inter"/>
                <a:ea typeface="Inter"/>
              </a:rPr>
              <a:t>Update Express Mode and inject the secret as DATABASE_URL.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700784" y="5449824"/>
            <a:ext cx="97840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JetBrains Mono"/>
                <a:ea typeface="JetBrains Mono"/>
              </a:rPr>
              <a:t>Express mode  →  Update  →  Environment variables  →  DATABASE_URL  →  Value type Secret  →  workshop/database-url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84048" y="6510528"/>
            <a:ext cx="11430000" cy="10972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84048" y="6547104"/>
            <a:ext cx="7863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JetBrains Mono"/>
                <a:ea typeface="JetBrains Mono"/>
              </a:rPr>
              <a:t>AWS STUDENT BUILDER GROUP  ·  JKUAT  ·  19 AUGUST 2026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46920" y="6547104"/>
            <a:ext cx="2103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4B5FD"/>
                </a:solidFill>
                <a:latin typeface="JetBrains Mono"/>
                <a:ea typeface="JetBrains Mono"/>
              </a:rPr>
              <a:t>10  / 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521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361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202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042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8833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7238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2452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0857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9262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7667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72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4476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2881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286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9691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6500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4905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3310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1715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0120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9852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692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533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1373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5214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9054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8404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76809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115214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153619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192024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230428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268833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307238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345643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84048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422452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60857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499262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37667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76072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14476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52881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0"/>
            <a:ext cx="77724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75720" y="0"/>
            <a:ext cx="713232" cy="2560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841480" y="256032"/>
            <a:ext cx="34747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137392" y="0"/>
            <a:ext cx="338328" cy="16459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510528"/>
            <a:ext cx="502920" cy="34747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6656832"/>
            <a:ext cx="292608" cy="2011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686032" y="6565392"/>
            <a:ext cx="502920" cy="29260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338560" y="6748272"/>
            <a:ext cx="256032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8912" y="292608"/>
            <a:ext cx="201168" cy="73152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21945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B5FD"/>
                </a:solidFill>
                <a:latin typeface="JetBrains Mono"/>
                <a:ea typeface="JetBrains Mono"/>
              </a:rPr>
              <a:t>BEAT 7 · PROVE IT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912" y="475488"/>
            <a:ext cx="111556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  <a:ea typeface="Inter"/>
              </a:rPr>
              <a:t>How we test that RDS is working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8912" y="1444752"/>
            <a:ext cx="11301984" cy="1078992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438912" y="1444752"/>
            <a:ext cx="1060704" cy="107899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38912" y="1444752"/>
            <a:ext cx="91440" cy="107899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8912" y="1737360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JetBrains Mono"/>
                <a:ea typeface="JetBrains Mono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00784" y="1554480"/>
            <a:ext cx="9784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B5FD"/>
                </a:solidFill>
                <a:latin typeface="Inter"/>
                <a:ea typeface="Inter"/>
              </a:rPr>
              <a:t>RDS console must show Available and an endpoint before any curl.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700784" y="1883664"/>
            <a:ext cx="97840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JetBrains Mono"/>
                <a:ea typeface="JetBrains Mono"/>
              </a:rPr>
              <a:t>RDS  →  workshop-db  →  Connectivity  →  copy Endpoint   ·   status badge Available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38912" y="2633472"/>
            <a:ext cx="11301984" cy="1078992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438912" y="2633472"/>
            <a:ext cx="1060704" cy="107899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38912" y="2633472"/>
            <a:ext cx="91440" cy="107899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8912" y="2926079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JetBrains Mono"/>
                <a:ea typeface="JetBrains Mono"/>
              </a:rPr>
              <a:t>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700784" y="2743200"/>
            <a:ext cx="9784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B5FD"/>
                </a:solidFill>
                <a:latin typeface="Inter"/>
                <a:ea typeface="Inter"/>
              </a:rPr>
              <a:t>/health reports whether the task has a working connection.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700784" y="3072384"/>
            <a:ext cx="97840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JetBrains Mono"/>
                <a:ea typeface="JetBrains Mono"/>
              </a:rPr>
              <a:t>curl.exe $App/health      expect   "database":"connected"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38912" y="3822191"/>
            <a:ext cx="11301984" cy="1078992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38912" y="3822191"/>
            <a:ext cx="1060704" cy="107899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38912" y="3822191"/>
            <a:ext cx="91440" cy="107899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8912" y="4114800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JetBrains Mono"/>
                <a:ea typeface="JetBrains Mono"/>
              </a:rPr>
              <a:t>03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00784" y="3931920"/>
            <a:ext cx="9784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B5FD"/>
                </a:solidFill>
                <a:latin typeface="Inter"/>
                <a:ea typeface="Inter"/>
              </a:rPr>
              <a:t>GET /db is the real proof: the API runs SELECT 1 inside Postgres.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00784" y="4261104"/>
            <a:ext cx="97840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JetBrains Mono"/>
                <a:ea typeface="JetBrains Mono"/>
              </a:rPr>
              <a:t>curl.exe $App/db      expect   {"status":"connected","ping":1,"database_name":"workshop","engine":"PostgreSQL"}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38912" y="5010912"/>
            <a:ext cx="11301984" cy="1078992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438912" y="5010912"/>
            <a:ext cx="1060704" cy="107899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38912" y="5010912"/>
            <a:ext cx="91440" cy="107899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38912" y="5303520"/>
            <a:ext cx="1060704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JetBrains Mono"/>
                <a:ea typeface="JetBrains Mono"/>
              </a:rPr>
              <a:t>04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700784" y="5120640"/>
            <a:ext cx="9784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B5FD"/>
                </a:solidFill>
                <a:latin typeface="Inter"/>
                <a:ea typeface="Inter"/>
              </a:rPr>
              <a:t>Confirm in logs and on the RDS graph so beginners see it two more ways.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700784" y="5449824"/>
            <a:ext cx="97840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JetBrains Mono"/>
                <a:ea typeface="JetBrains Mono"/>
              </a:rPr>
              <a:t>CloudWatch: GET /db status=connected     ·     RDS → Monitoring → Database connections leaves zero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84048" y="6510528"/>
            <a:ext cx="11430000" cy="10972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84048" y="6547104"/>
            <a:ext cx="7863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JetBrains Mono"/>
                <a:ea typeface="JetBrains Mono"/>
              </a:rPr>
              <a:t>AWS STUDENT BUILDER GROUP  ·  JKUAT  ·  19 AUGUST 2026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46920" y="6547104"/>
            <a:ext cx="2103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4B5FD"/>
                </a:solidFill>
                <a:latin typeface="JetBrains Mono"/>
                <a:ea typeface="JetBrains Mono"/>
              </a:rPr>
              <a:t>11  / 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521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361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202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042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8833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7238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2452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0857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9262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7667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72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4476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2881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286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9691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6500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4905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3310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1715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0120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9852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692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533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1373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5214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9054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8404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76809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115214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153619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192024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230428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268833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307238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345643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84048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422452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60857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499262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37667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76072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14476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52881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0"/>
            <a:ext cx="77724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75720" y="0"/>
            <a:ext cx="713232" cy="2560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841480" y="256032"/>
            <a:ext cx="34747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137392" y="0"/>
            <a:ext cx="338328" cy="16459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510528"/>
            <a:ext cx="502920" cy="34747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6656832"/>
            <a:ext cx="292608" cy="2011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686032" y="6565392"/>
            <a:ext cx="502920" cy="29260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338560" y="6748272"/>
            <a:ext cx="256032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8912" y="292608"/>
            <a:ext cx="201168" cy="73152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21945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B5FD"/>
                </a:solidFill>
                <a:latin typeface="JetBrains Mono"/>
                <a:ea typeface="JetBrains Mono"/>
              </a:rPr>
              <a:t>AFTER THE FIRST DEPLOY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912" y="475488"/>
            <a:ext cx="111556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  <a:ea typeface="Inter"/>
              </a:rPr>
              <a:t>Habits that make it production-ready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8912" y="1481328"/>
            <a:ext cx="5413248" cy="2011680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38912" y="1481328"/>
            <a:ext cx="82296" cy="20116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4944" y="1645920"/>
            <a:ext cx="12801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55F7"/>
                </a:solidFill>
                <a:latin typeface="JetBrains Mono"/>
                <a:ea typeface="JetBrains Mono"/>
              </a:rPr>
              <a:t>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" y="1938528"/>
            <a:ext cx="4901183" cy="13898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5E7EB"/>
                </a:solidFill>
                <a:latin typeface="Inter"/>
                <a:ea typeface="Inter"/>
              </a:rPr>
              <a:t>Never commit access keys, and rotate anything that has already appeared in a screenshot or a chat paste.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327648" y="1481328"/>
            <a:ext cx="5413248" cy="2011680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327648" y="1481328"/>
            <a:ext cx="82296" cy="20116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0" y="1645920"/>
            <a:ext cx="12801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55F7"/>
                </a:solidFill>
                <a:latin typeface="JetBrains Mono"/>
                <a:ea typeface="JetBrains Mono"/>
              </a:rPr>
              <a:t>02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83680" y="1938528"/>
            <a:ext cx="4901183" cy="13898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5E7EB"/>
                </a:solidFill>
                <a:latin typeface="Inter"/>
                <a:ea typeface="Inter"/>
              </a:rPr>
              <a:t>Add health checks, structured logs, and one real alarm before you invite classmates to traffic-test the URL.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38912" y="3694176"/>
            <a:ext cx="5413248" cy="2011680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38912" y="3694176"/>
            <a:ext cx="82296" cy="20116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94944" y="3858768"/>
            <a:ext cx="12801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55F7"/>
                </a:solidFill>
                <a:latin typeface="JetBrains Mono"/>
                <a:ea typeface="JetBrains Mono"/>
              </a:rPr>
              <a:t>03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4944" y="4151376"/>
            <a:ext cx="4901183" cy="13898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5E7EB"/>
                </a:solidFill>
                <a:latin typeface="Inter"/>
                <a:ea typeface="Inter"/>
              </a:rPr>
              <a:t>Ship through CI/CD so every change is tested, reviewed, and easy to roll back when a release misbehaves.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327648" y="3694176"/>
            <a:ext cx="5413248" cy="2011680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327648" y="3694176"/>
            <a:ext cx="82296" cy="20116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583680" y="3858768"/>
            <a:ext cx="12801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55F7"/>
                </a:solidFill>
                <a:latin typeface="JetBrains Mono"/>
                <a:ea typeface="JetBrains Mono"/>
              </a:rPr>
              <a:t>04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83680" y="4151376"/>
            <a:ext cx="4901183" cy="13898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5E7EB"/>
                </a:solidFill>
                <a:latin typeface="Inter"/>
                <a:ea typeface="Inter"/>
              </a:rPr>
              <a:t>Least-privilege IAM, HTTPS everywhere, and automated backups are the price of calling an app production-ready.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84048" y="6510528"/>
            <a:ext cx="11430000" cy="10972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84048" y="6547104"/>
            <a:ext cx="7863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JetBrains Mono"/>
                <a:ea typeface="JetBrains Mono"/>
              </a:rPr>
              <a:t>AWS STUDENT BUILDER GROUP  ·  JKUAT  ·  19 AUGUST 2026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46920" y="6547104"/>
            <a:ext cx="2103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4B5FD"/>
                </a:solidFill>
                <a:latin typeface="JetBrains Mono"/>
                <a:ea typeface="JetBrains Mono"/>
              </a:rPr>
              <a:t>12  / 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521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361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202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042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8833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7238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2452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0857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9262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7667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72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4476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2881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286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9691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6500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4905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3310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1715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0120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9852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692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533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1373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5214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9054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8404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76809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115214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153619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192024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230428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268833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307238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345643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84048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422452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60857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499262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37667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76072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14476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52881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0"/>
            <a:ext cx="77724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75720" y="0"/>
            <a:ext cx="713232" cy="2560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841480" y="256032"/>
            <a:ext cx="34747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137392" y="0"/>
            <a:ext cx="338328" cy="16459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510528"/>
            <a:ext cx="502920" cy="34747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6656832"/>
            <a:ext cx="292608" cy="2011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686032" y="6565392"/>
            <a:ext cx="502920" cy="29260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338560" y="6748272"/>
            <a:ext cx="256032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8912" y="292608"/>
            <a:ext cx="201168" cy="73152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21945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B5FD"/>
                </a:solidFill>
                <a:latin typeface="JetBrains Mono"/>
                <a:ea typeface="JetBrains Mono"/>
              </a:rPr>
              <a:t>BEFORE WE CLOSE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912" y="475488"/>
            <a:ext cx="111556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  <a:ea typeface="Inter"/>
              </a:rPr>
              <a:t>What you should build this week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8912" y="1481328"/>
            <a:ext cx="5413248" cy="2011680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38912" y="1481328"/>
            <a:ext cx="82296" cy="20116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4944" y="1645920"/>
            <a:ext cx="12801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55F7"/>
                </a:solidFill>
                <a:latin typeface="JetBrains Mono"/>
                <a:ea typeface="JetBrains Mono"/>
              </a:rPr>
              <a:t>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" y="1938528"/>
            <a:ext cx="4901183" cy="13898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5E7EB"/>
                </a:solidFill>
                <a:latin typeface="Inter"/>
                <a:ea typeface="Inter"/>
              </a:rPr>
              <a:t>Redeploy tonight's service under your own AWS account before the energy of the session fades.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327648" y="1481328"/>
            <a:ext cx="5413248" cy="2011680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327648" y="1481328"/>
            <a:ext cx="82296" cy="20116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0" y="1645920"/>
            <a:ext cx="12801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55F7"/>
                </a:solidFill>
                <a:latin typeface="JetBrains Mono"/>
                <a:ea typeface="JetBrains Mono"/>
              </a:rPr>
              <a:t>02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83680" y="1938528"/>
            <a:ext cx="4901183" cy="13898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5E7EB"/>
                </a:solidFill>
                <a:latin typeface="Inter"/>
                <a:ea typeface="Inter"/>
              </a:rPr>
              <a:t>Add one production habit immediately: move secrets, add logging, or wire a tiny CI pipeline.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38912" y="3694176"/>
            <a:ext cx="5413248" cy="2011680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38912" y="3694176"/>
            <a:ext cx="82296" cy="20116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94944" y="3858768"/>
            <a:ext cx="12801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55F7"/>
                </a:solidFill>
                <a:latin typeface="JetBrains Mono"/>
                <a:ea typeface="JetBrains Mono"/>
              </a:rPr>
              <a:t>03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4944" y="4151376"/>
            <a:ext cx="4901183" cy="13898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5E7EB"/>
                </a:solidFill>
                <a:latin typeface="Inter"/>
                <a:ea typeface="Inter"/>
              </a:rPr>
              <a:t>Share the public URL in the AWS Student Builder Group so another builder can learn from your path.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327648" y="3694176"/>
            <a:ext cx="5413248" cy="2011680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327648" y="3694176"/>
            <a:ext cx="82296" cy="20116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583680" y="3858768"/>
            <a:ext cx="12801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55F7"/>
                </a:solidFill>
                <a:latin typeface="JetBrains Mono"/>
                <a:ea typeface="JetBrains Mono"/>
              </a:rPr>
              <a:t>04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83680" y="4151376"/>
            <a:ext cx="4901183" cy="13898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5E7EB"/>
                </a:solidFill>
                <a:latin typeface="Inter"/>
                <a:ea typeface="Inter"/>
              </a:rPr>
              <a:t>If a step blocks you, ask in the community; shipped questions teach more than perfect private repos.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84048" y="6510528"/>
            <a:ext cx="11430000" cy="10972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84048" y="6547104"/>
            <a:ext cx="7863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JetBrains Mono"/>
                <a:ea typeface="JetBrains Mono"/>
              </a:rPr>
              <a:t>AWS STUDENT BUILDER GROUP  ·  JKUAT  ·  19 AUGUST 2026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46920" y="6547104"/>
            <a:ext cx="2103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4B5FD"/>
                </a:solidFill>
                <a:latin typeface="JetBrains Mono"/>
                <a:ea typeface="JetBrains Mono"/>
              </a:rPr>
              <a:t>13  / 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521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361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202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042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8833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7238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2452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0857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9262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7667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72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4476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2881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286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9691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6500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4905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3310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1715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0120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98524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69296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53344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137392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521440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905488" y="0"/>
            <a:ext cx="6400" cy="68580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8404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76809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115214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153619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192024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230428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268833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307238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345643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84048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422452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60857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4992624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376672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760720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144768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528816"/>
            <a:ext cx="12191695" cy="6400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0"/>
            <a:ext cx="77724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75720" y="0"/>
            <a:ext cx="713232" cy="2560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841480" y="256032"/>
            <a:ext cx="34747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137392" y="0"/>
            <a:ext cx="338328" cy="16459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510528"/>
            <a:ext cx="502920" cy="34747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6656832"/>
            <a:ext cx="292608" cy="2011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686032" y="6565392"/>
            <a:ext cx="502920" cy="29260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338560" y="6748272"/>
            <a:ext cx="256032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8912" y="292608"/>
            <a:ext cx="201168" cy="73152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21945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B5FD"/>
                </a:solidFill>
                <a:latin typeface="JetBrains Mono"/>
                <a:ea typeface="JetBrains Mono"/>
              </a:rPr>
              <a:t>SOCIALS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912" y="475488"/>
            <a:ext cx="111556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  <a:ea typeface="Inter"/>
              </a:rPr>
              <a:t>Stay in touch and keep shipping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8912" y="1481328"/>
            <a:ext cx="5413248" cy="2011680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38912" y="1481328"/>
            <a:ext cx="5413248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31520" y="1737360"/>
            <a:ext cx="482803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B5FD"/>
                </a:solidFill>
                <a:latin typeface="JetBrains Mono"/>
                <a:ea typeface="JetBrains Mono"/>
              </a:rPr>
              <a:t>LINKEDIN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1520" y="1993392"/>
            <a:ext cx="4828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  <a:ea typeface="Inter"/>
                <a:hlinkClick r:id="rId2"/>
              </a:rPr>
              <a:t>Gilbert Chris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520" y="2468880"/>
            <a:ext cx="4828032" cy="8046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5E7EB"/>
                </a:solidFill>
                <a:latin typeface="Inter"/>
                <a:ea typeface="Inter"/>
              </a:rPr>
              <a:t>Connect with me on LinkedIn as Gilbert Chris for recaps, AWS notes, and what we build next at Remoteflow.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327648" y="1481328"/>
            <a:ext cx="5413248" cy="2011680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327648" y="1481328"/>
            <a:ext cx="5413248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620256" y="1737360"/>
            <a:ext cx="482803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B5FD"/>
                </a:solidFill>
                <a:latin typeface="JetBrains Mono"/>
                <a:ea typeface="JetBrains Mono"/>
              </a:rPr>
              <a:t>GITHUB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20256" y="1993392"/>
            <a:ext cx="4828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  <a:ea typeface="Inter"/>
                <a:hlinkClick r:id="rId3"/>
              </a:rPr>
              <a:t>github.com/GilbertKamau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620256" y="2468880"/>
            <a:ext cx="4828032" cy="8046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5E7EB"/>
                </a:solidFill>
                <a:latin typeface="Inter"/>
                <a:ea typeface="Inter"/>
              </a:rPr>
              <a:t>Follow the public repos on GitHub at GilbertKamau and fork the demo path we used from laptop to cloud.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38912" y="3694176"/>
            <a:ext cx="5413248" cy="2011680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38912" y="3694176"/>
            <a:ext cx="5413248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1520" y="3950208"/>
            <a:ext cx="482803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B5FD"/>
                </a:solidFill>
                <a:latin typeface="JetBrains Mono"/>
                <a:ea typeface="JetBrains Mono"/>
              </a:rPr>
              <a:t>WEB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1520" y="4206240"/>
            <a:ext cx="4828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  <a:ea typeface="Inter"/>
                <a:hlinkClick r:id="rId4"/>
              </a:rPr>
              <a:t>remoteflow.cc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1520" y="4681728"/>
            <a:ext cx="4828032" cy="8046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5E7EB"/>
                </a:solidFill>
                <a:latin typeface="Inter"/>
                <a:ea typeface="Inter"/>
              </a:rPr>
              <a:t>Visit remoteflow.cc to see a production product born from the same backend-to-cloud discipline we practiced tonight.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327648" y="3694176"/>
            <a:ext cx="5413248" cy="2011680"/>
          </a:xfrm>
          <a:prstGeom prst="roundRect">
            <a:avLst>
              <a:gd name="adj" fmla="val 8000"/>
            </a:avLst>
          </a:prstGeom>
          <a:solidFill>
            <a:srgbClr val="1B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327648" y="3694176"/>
            <a:ext cx="5413248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620256" y="3950208"/>
            <a:ext cx="482803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B5FD"/>
                </a:solidFill>
                <a:latin typeface="JetBrains Mono"/>
                <a:ea typeface="JetBrains Mono"/>
              </a:rPr>
              <a:t>X  ·  EMAIL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620256" y="4206240"/>
            <a:ext cx="4828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  <a:ea typeface="Inter"/>
                <a:hlinkClick r:id="rId5"/>
              </a:rPr>
              <a:t>@El_berto31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620256" y="4681728"/>
            <a:ext cx="4828032" cy="8046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5E7EB"/>
                </a:solidFill>
                <a:latin typeface="Inter"/>
                <a:ea typeface="Inter"/>
              </a:rPr>
              <a:t>Find me on X as @El_berto31, or write gilbertchris062@gmail.com if you want feedback on the service you ship this week.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84048" y="6510528"/>
            <a:ext cx="11430000" cy="10972"/>
          </a:xfrm>
          <a:prstGeom prst="rect">
            <a:avLst/>
          </a:prstGeom>
          <a:solidFill>
            <a:srgbClr val="2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84048" y="6547104"/>
            <a:ext cx="7863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JetBrains Mono"/>
                <a:ea typeface="JetBrains Mono"/>
              </a:rPr>
              <a:t>AWS STUDENT BUILDER GROUP  ·  JKUAT  ·  19 AUGUST 2026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646920" y="6547104"/>
            <a:ext cx="2103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4B5FD"/>
                </a:solidFill>
                <a:latin typeface="JetBrains Mono"/>
                <a:ea typeface="JetBrains Mono"/>
              </a:rPr>
              <a:t>14  / 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