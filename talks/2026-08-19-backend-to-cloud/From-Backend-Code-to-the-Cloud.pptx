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FLOW</a:t>
            </a:r>
          </a:p>
          <a:p>
            <a:r>
              <a:t>1) Run the API locally and curl /health and a sample route.</a:t>
            </a:r>
          </a:p>
          <a:p>
            <a:r>
              <a:t>2) Build the Docker image and confirm it still serves locally.</a:t>
            </a:r>
          </a:p>
          <a:p>
            <a:r>
              <a:t>3) Push to ECR, deploy to App Runner or ECS, attach RDS or Aurora, load secrets.</a:t>
            </a:r>
          </a:p>
          <a:p>
            <a:r>
              <a:t>4) Open the public URL, replay the same requests, show CloudWatch logs.</a:t>
            </a:r>
          </a:p>
          <a:p>
            <a:r>
              <a:t>Keep this to the four spoken sentences on the slide; use this note as the checklist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inkedin.com/in/gilbert-chris-a696151a9" TargetMode="External"/><Relationship Id="rId3" Type="http://schemas.openxmlformats.org/officeDocument/2006/relationships/hyperlink" Target="https://github.com/GilbertKamau" TargetMode="External"/><Relationship Id="rId4" Type="http://schemas.openxmlformats.org/officeDocument/2006/relationships/hyperlink" Target="https://www.remoteflow.cc/" TargetMode="External"/><Relationship Id="rId5" Type="http://schemas.openxmlformats.org/officeDocument/2006/relationships/hyperlink" Target="https://x.com/El_berto3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361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42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8833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7238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57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262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4905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715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852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692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533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373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214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9054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8404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76809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115214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53619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92024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230428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68833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07238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345643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84048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22452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0857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99262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37667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76072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4476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2881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75720" y="0"/>
            <a:ext cx="7132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841480" y="25603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37392" y="0"/>
            <a:ext cx="338328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5029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6656832"/>
            <a:ext cx="29260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86032" y="6565392"/>
            <a:ext cx="502920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38560" y="6748272"/>
            <a:ext cx="256032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8912" y="292608"/>
            <a:ext cx="20116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1945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INTRODUCTION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" y="45720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Inter"/>
                <a:ea typeface="Inter"/>
              </a:rPr>
              <a:t>From Backend Code to the Cloud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" y="1078992"/>
            <a:ext cx="111556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4B5FD"/>
                </a:solidFill>
                <a:latin typeface="Inter"/>
                <a:ea typeface="Inter"/>
              </a:rPr>
              <a:t>Building and Deploying Production-Ready Apps on AWS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8912" y="1499616"/>
            <a:ext cx="2212848" cy="347472"/>
          </a:xfrm>
          <a:prstGeom prst="roundRect">
            <a:avLst>
              <a:gd name="adj" fmla="val 40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1554480"/>
            <a:ext cx="22128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5E7EB"/>
                </a:solidFill>
                <a:latin typeface="JetBrains Mono"/>
                <a:ea typeface="JetBrains Mono"/>
              </a:rPr>
              <a:t>WED 19 AUG 2026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8920" y="1499616"/>
            <a:ext cx="2212848" cy="347472"/>
          </a:xfrm>
          <a:prstGeom prst="roundRect">
            <a:avLst>
              <a:gd name="adj" fmla="val 40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88920" y="1554480"/>
            <a:ext cx="221284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5E7EB"/>
                </a:solidFill>
                <a:latin typeface="JetBrains Mono"/>
                <a:ea typeface="JetBrains Mono"/>
              </a:rPr>
              <a:t>07:30 – 09:30 PM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38928" y="1499616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38928" y="1554480"/>
            <a:ext cx="1508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5E7EB"/>
                </a:solidFill>
                <a:latin typeface="JetBrains Mono"/>
                <a:ea typeface="JetBrains Mono"/>
              </a:rPr>
              <a:t>ONLINE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784848" y="1499616"/>
            <a:ext cx="4937760" cy="347472"/>
          </a:xfrm>
          <a:prstGeom prst="roundRect">
            <a:avLst>
              <a:gd name="adj" fmla="val 40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4848" y="155448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5E7EB"/>
                </a:solidFill>
                <a:latin typeface="JetBrains Mono"/>
                <a:ea typeface="JetBrains Mono"/>
              </a:rPr>
              <a:t>GILBERT CHRIS  ·  REMOTEFLOW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8912" y="1993392"/>
            <a:ext cx="5413248" cy="1956816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8912" y="1993392"/>
            <a:ext cx="82296" cy="195681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944" y="2157984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" y="2450592"/>
            <a:ext cx="4901183" cy="13350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Welcome to this AWS Student Builder Group session, where we turn local backend code into a service that real users can reach.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27648" y="1993392"/>
            <a:ext cx="5413248" cy="1956816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27648" y="1993392"/>
            <a:ext cx="82296" cy="195681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0" y="2157984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0" y="2450592"/>
            <a:ext cx="4901183" cy="13350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I am Gilbert Chris, Founder at Remoteflow, and I will walk you from a working laptop API to a production-minded AWS deploy.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38912" y="4114800"/>
            <a:ext cx="5413248" cy="1956816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8912" y="4114800"/>
            <a:ext cx="82296" cy="195681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4944" y="4279392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" y="4572000"/>
            <a:ext cx="4901183" cy="13350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Tonight is for student builders who already write routes and queries, and now want those apps to survive traffic, secrets, and failure.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327648" y="4114800"/>
            <a:ext cx="5413248" cy="1956816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27648" y="4114800"/>
            <a:ext cx="82296" cy="195681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0" y="4279392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0" y="4572000"/>
            <a:ext cx="4901183" cy="13350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Stay with the flow, follow the demo, and leave knowing the exact next ship you can make after this workshop.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4048" y="6510528"/>
            <a:ext cx="11430000" cy="10972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4048" y="6547104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JetBrains Mono"/>
                <a:ea typeface="JetBrains Mono"/>
              </a:rPr>
              <a:t>AWS STUDENT BUILDER GROUP  ·  JKUAT  ·  19 AUGUST 2026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46920" y="6547104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B5FD"/>
                </a:solidFill>
                <a:latin typeface="JetBrains Mono"/>
                <a:ea typeface="JetBrains Mono"/>
              </a:rPr>
              <a:t>01  / 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361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42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8833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7238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57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262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4905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715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852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692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533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373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214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9054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8404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76809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115214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53619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92024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230428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68833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07238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345643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84048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22452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0857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99262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37667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76072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4476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2881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75720" y="0"/>
            <a:ext cx="7132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841480" y="25603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37392" y="0"/>
            <a:ext cx="338328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5029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6656832"/>
            <a:ext cx="29260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86032" y="6565392"/>
            <a:ext cx="502920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38560" y="6748272"/>
            <a:ext cx="256032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8912" y="292608"/>
            <a:ext cx="20116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1945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THE LOCAL STARTING POINT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" y="475488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</a:rPr>
              <a:t>What a modern backend really is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A modern backend is more than a framework folder that answers on localhost:8000.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7648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7648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Production code must keep secrets out of git, recover from crashes, and tell you when something breaks.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8912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Many student projects stop at it works on my machine, and that gap is exactly what we close tonight.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27648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27648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0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Treat your API as a product with identity, storage, logs, and a repeatable path from commit to cloud.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" y="6510528"/>
            <a:ext cx="11430000" cy="10972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6547104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JetBrains Mono"/>
                <a:ea typeface="JetBrains Mono"/>
              </a:rPr>
              <a:t>AWS STUDENT BUILDER GROUP  ·  JKUAT  ·  19 AUGUST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46920" y="6547104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B5FD"/>
                </a:solidFill>
                <a:latin typeface="JetBrains Mono"/>
                <a:ea typeface="JetBrains Mono"/>
              </a:rPr>
              <a:t>02  / 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361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42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8833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7238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57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262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4905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715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852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692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533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373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214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9054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8404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76809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115214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53619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92024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230428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68833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07238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345643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84048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22452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0857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99262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37667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76072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4476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2881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75720" y="0"/>
            <a:ext cx="7132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841480" y="25603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37392" y="0"/>
            <a:ext cx="338328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5029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6656832"/>
            <a:ext cx="29260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86032" y="6565392"/>
            <a:ext cx="502920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38560" y="6748272"/>
            <a:ext cx="256032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8912" y="292608"/>
            <a:ext cx="20116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1945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THE PLATFORM CHOICE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" y="475488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</a:rPr>
              <a:t>Why we deploy this on AWS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AWS gives student builders the same compute, data, and security primitives that real companies compose in production.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7648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7648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You stop babysitting one fragile VPS and start assembling services that scale, fail independently, and can be replaced.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8912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A generous free tier plus global regions means you can learn production thinking without needing a data center.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27648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27648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0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Choose AWS when you want elasticity, managed databases, and a career-shaped skill that still fits a student budget.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" y="6510528"/>
            <a:ext cx="11430000" cy="10972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6547104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JetBrains Mono"/>
                <a:ea typeface="JetBrains Mono"/>
              </a:rPr>
              <a:t>AWS STUDENT BUILDER GROUP  ·  JKUAT  ·  19 AUGUST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46920" y="6547104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B5FD"/>
                </a:solidFill>
                <a:latin typeface="JetBrains Mono"/>
                <a:ea typeface="JetBrains Mono"/>
              </a:rPr>
              <a:t>03  / 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361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42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8833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7238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57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262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4905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715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852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692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533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373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214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9054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8404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76809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115214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53619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92024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230428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68833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07238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345643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84048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22452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0857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99262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37667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76072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4476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2881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75720" y="0"/>
            <a:ext cx="7132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841480" y="25603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37392" y="0"/>
            <a:ext cx="338328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5029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6656832"/>
            <a:ext cx="29260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86032" y="6565392"/>
            <a:ext cx="502920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38560" y="6748272"/>
            <a:ext cx="256032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8912" y="292608"/>
            <a:ext cx="20116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1945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THE MAP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" y="475488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</a:rPr>
              <a:t>Architecture we will ship tonight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Clients reach a public HTTPS endpoint, then a load balancer or API Gateway forwards traffic to our container.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7648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7648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The application runs on managed compute such as App Runner or ECS so we never SSH into a snowflake server.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8912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State lives in a managed database, and every secret comes from Secrets Manager instead of a committed .env file.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27648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27648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0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CloudWatch collects logs and metrics so we can see errors before a classmate in the chat reports them.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" y="6510528"/>
            <a:ext cx="11430000" cy="10972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6547104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JetBrains Mono"/>
                <a:ea typeface="JetBrains Mono"/>
              </a:rPr>
              <a:t>AWS STUDENT BUILDER GROUP  ·  JKUAT  ·  19 AUGUST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46920" y="6547104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B5FD"/>
                </a:solidFill>
                <a:latin typeface="JetBrains Mono"/>
                <a:ea typeface="JetBrains Mono"/>
              </a:rPr>
              <a:t>04  / 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361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42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8833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7238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57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262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4905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715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852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692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533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373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214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9054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8404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76809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115214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53619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92024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230428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68833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07238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345643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84048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22452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0857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99262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37667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76072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4476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2881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75720" y="0"/>
            <a:ext cx="7132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841480" y="25603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37392" y="0"/>
            <a:ext cx="338328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5029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6656832"/>
            <a:ext cx="29260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86032" y="6565392"/>
            <a:ext cx="502920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38560" y="6748272"/>
            <a:ext cx="256032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8912" y="292608"/>
            <a:ext cx="20116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1945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LIVE DEMO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" y="475488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</a:rPr>
              <a:t>From localhost to a live AWS URL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1481328"/>
            <a:ext cx="11301984" cy="1060704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38912" y="1481328"/>
            <a:ext cx="1060704" cy="1060704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8912" y="1481328"/>
            <a:ext cx="91440" cy="10607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1755648"/>
            <a:ext cx="1060704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JetBrains Mono"/>
                <a:ea typeface="JetBrains Mono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37360" y="1737360"/>
            <a:ext cx="969264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Inter"/>
                <a:ea typeface="Inter"/>
              </a:rPr>
              <a:t>We start with a working backend on your machine and prove the happy path with a local request you can see.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8912" y="2651760"/>
            <a:ext cx="11301984" cy="1060704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38912" y="2651760"/>
            <a:ext cx="1060704" cy="1060704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8912" y="2651760"/>
            <a:ext cx="91440" cy="10607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2926080"/>
            <a:ext cx="1060704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JetBrains Mono"/>
                <a:ea typeface="JetBrains Mono"/>
              </a:rPr>
              <a:t>02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37360" y="2907792"/>
            <a:ext cx="969264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Inter"/>
                <a:ea typeface="Inter"/>
              </a:rPr>
              <a:t>We containerize that same service, push the image, and deploy it onto AWS compute without rewriting the business logic.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8912" y="3822191"/>
            <a:ext cx="11301984" cy="1060704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38912" y="3822191"/>
            <a:ext cx="1060704" cy="1060704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8912" y="3822191"/>
            <a:ext cx="91440" cy="10607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4096511"/>
            <a:ext cx="1060704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JetBrains Mono"/>
                <a:ea typeface="JetBrains Mono"/>
              </a:rPr>
              <a:t>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37360" y="4078224"/>
            <a:ext cx="969264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Inter"/>
                <a:ea typeface="Inter"/>
              </a:rPr>
              <a:t>We attach a managed database, inject environment values, and expose a public HTTPS URL for the room to hit.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8912" y="4992624"/>
            <a:ext cx="11301984" cy="1060704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38912" y="4992624"/>
            <a:ext cx="1060704" cy="1060704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38912" y="4992624"/>
            <a:ext cx="91440" cy="10607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8912" y="5266944"/>
            <a:ext cx="1060704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JetBrains Mono"/>
                <a:ea typeface="JetBrains Mono"/>
              </a:rPr>
              <a:t>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37360" y="5248656"/>
            <a:ext cx="969264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Inter"/>
                <a:ea typeface="Inter"/>
              </a:rPr>
              <a:t>We call the live endpoint together so you watch the identical API answer from the cloud instead of from localhost.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" y="6510528"/>
            <a:ext cx="11430000" cy="10972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4048" y="6547104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JetBrains Mono"/>
                <a:ea typeface="JetBrains Mono"/>
              </a:rPr>
              <a:t>AWS STUDENT BUILDER GROUP  ·  JKUAT  ·  19 AUGUST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46920" y="6547104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B5FD"/>
                </a:solidFill>
                <a:latin typeface="JetBrains Mono"/>
                <a:ea typeface="JetBrains Mono"/>
              </a:rPr>
              <a:t>05  / 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361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42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8833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7238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57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262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4905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715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852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692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533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373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214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9054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8404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76809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115214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53619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92024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230428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68833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07238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345643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84048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22452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0857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99262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37667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76072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4476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2881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75720" y="0"/>
            <a:ext cx="7132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841480" y="25603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37392" y="0"/>
            <a:ext cx="338328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5029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6656832"/>
            <a:ext cx="29260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86032" y="6565392"/>
            <a:ext cx="502920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38560" y="6748272"/>
            <a:ext cx="256032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8912" y="292608"/>
            <a:ext cx="20116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1945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AFTER THE FIRST DEPLOY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" y="475488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</a:rPr>
              <a:t>Habits that make it production-ready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Never commit access keys, and rotate anything that has already appeared in a screenshot or a chat paste.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7648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7648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Add health checks, structured logs, and one real alarm before you invite classmates to traffic-test the URL.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8912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Ship through CI/CD so every change is tested, reviewed, and easy to roll back when a release misbehaves.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27648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27648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0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Least-privilege IAM, HTTPS everywhere, and automated backups are the price of calling an app production-ready.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" y="6510528"/>
            <a:ext cx="11430000" cy="10972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6547104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JetBrains Mono"/>
                <a:ea typeface="JetBrains Mono"/>
              </a:rPr>
              <a:t>AWS STUDENT BUILDER GROUP  ·  JKUAT  ·  19 AUGUST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46920" y="6547104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B5FD"/>
                </a:solidFill>
                <a:latin typeface="JetBrains Mono"/>
                <a:ea typeface="JetBrains Mono"/>
              </a:rPr>
              <a:t>06  / 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361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42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8833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7238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57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262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4905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715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852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692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533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373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214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9054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8404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76809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115214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53619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92024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230428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68833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07238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345643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84048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22452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0857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99262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37667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76072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4476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2881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75720" y="0"/>
            <a:ext cx="7132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841480" y="25603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37392" y="0"/>
            <a:ext cx="338328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5029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6656832"/>
            <a:ext cx="29260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86032" y="6565392"/>
            <a:ext cx="502920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38560" y="6748272"/>
            <a:ext cx="256032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8912" y="292608"/>
            <a:ext cx="20116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1945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BEFORE WE CLOSE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" y="475488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</a:rPr>
              <a:t>What you should build this week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4944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Redeploy tonight's service under your own AWS account before the energy of the session fades.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7648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7648" y="1481328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1645920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1938528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Add one production habit immediately: move secrets, add logging, or wire a tiny CI pipeline.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8912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Share the public URL in the AWS Student Builder Group so another builder can learn from your path.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27648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27648" y="3694176"/>
            <a:ext cx="82296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0" y="3858768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55F7"/>
                </a:solidFill>
                <a:latin typeface="JetBrains Mono"/>
                <a:ea typeface="JetBrains Mono"/>
              </a:rPr>
              <a:t>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4151376"/>
            <a:ext cx="4901183" cy="1389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5E7EB"/>
                </a:solidFill>
                <a:latin typeface="Inter"/>
                <a:ea typeface="Inter"/>
              </a:rPr>
              <a:t>If a step blocks you, ask in the community; shipped questions teach more than perfect private repos.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" y="6510528"/>
            <a:ext cx="11430000" cy="10972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6547104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JetBrains Mono"/>
                <a:ea typeface="JetBrains Mono"/>
              </a:rPr>
              <a:t>AWS STUDENT BUILDER GROUP  ·  JKUAT  ·  19 AUGUST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46920" y="6547104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B5FD"/>
                </a:solidFill>
                <a:latin typeface="JetBrains Mono"/>
                <a:ea typeface="JetBrains Mono"/>
              </a:rPr>
              <a:t>07  / 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361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42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8833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7238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57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262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7667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9691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4905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715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8524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69296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53344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37392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21440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905488" y="0"/>
            <a:ext cx="6400" cy="68580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38404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76809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115214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53619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92024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230428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68833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07238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345643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84048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22452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0857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992624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376672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760720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44768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528816"/>
            <a:ext cx="12191695" cy="64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75720" y="0"/>
            <a:ext cx="713232" cy="2560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841480" y="25603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37392" y="0"/>
            <a:ext cx="338328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510528"/>
            <a:ext cx="5029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6656832"/>
            <a:ext cx="29260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86032" y="6565392"/>
            <a:ext cx="502920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38560" y="6748272"/>
            <a:ext cx="256032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8912" y="292608"/>
            <a:ext cx="201168" cy="7315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219456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SOCIALS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" y="475488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</a:rPr>
              <a:t>Stay in touch and keep shipping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" y="1481328"/>
            <a:ext cx="5413248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1737360"/>
            <a:ext cx="48280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LINKEDIN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1993392"/>
            <a:ext cx="4828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hlinkClick r:id="rId2"/>
              </a:rPr>
              <a:t>Gilbert Chris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2468880"/>
            <a:ext cx="4828032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Inter"/>
                <a:ea typeface="Inter"/>
              </a:rPr>
              <a:t>Connect with me on LinkedIn as Gilbert Chris for recaps, AWS notes, and what we build next at Remoteflow.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27648" y="1481328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7648" y="1481328"/>
            <a:ext cx="5413248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20256" y="1737360"/>
            <a:ext cx="48280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GITHUB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20256" y="1993392"/>
            <a:ext cx="4828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hlinkClick r:id="rId3"/>
              </a:rPr>
              <a:t>github.com/GilbertKamau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20256" y="2468880"/>
            <a:ext cx="4828032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Inter"/>
                <a:ea typeface="Inter"/>
              </a:rPr>
              <a:t>Follow the public repos on GitHub at GilbertKamau and fork the demo path we used from laptop to cloud.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8912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8912" y="3694176"/>
            <a:ext cx="5413248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3950208"/>
            <a:ext cx="48280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WEB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4206240"/>
            <a:ext cx="4828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hlinkClick r:id="rId4"/>
              </a:rPr>
              <a:t>remoteflow.cc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4681728"/>
            <a:ext cx="4828032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Inter"/>
                <a:ea typeface="Inter"/>
              </a:rPr>
              <a:t>Visit remoteflow.cc to see a production product born from the same backend-to-cloud discipline we practiced tonight.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27648" y="3694176"/>
            <a:ext cx="5413248" cy="2011680"/>
          </a:xfrm>
          <a:prstGeom prst="roundRect">
            <a:avLst>
              <a:gd name="adj" fmla="val 8000"/>
            </a:avLst>
          </a:prstGeom>
          <a:solidFill>
            <a:srgbClr val="1B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27648" y="3694176"/>
            <a:ext cx="5413248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20256" y="3950208"/>
            <a:ext cx="48280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B5FD"/>
                </a:solidFill>
                <a:latin typeface="JetBrains Mono"/>
                <a:ea typeface="JetBrains Mono"/>
              </a:rPr>
              <a:t>X  ·  EMAIL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20256" y="4206240"/>
            <a:ext cx="4828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hlinkClick r:id="rId5"/>
              </a:rPr>
              <a:t>@El_berto31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0256" y="4681728"/>
            <a:ext cx="4828032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Inter"/>
                <a:ea typeface="Inter"/>
              </a:rPr>
              <a:t>Find me on X as @El_berto31, or write gilbertchris062@gmail.com if you want feedback on the service you ship this week.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" y="6510528"/>
            <a:ext cx="11430000" cy="10972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4048" y="6547104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JetBrains Mono"/>
                <a:ea typeface="JetBrains Mono"/>
              </a:rPr>
              <a:t>AWS STUDENT BUILDER GROUP  ·  JKUAT  ·  19 AUGUST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46920" y="6547104"/>
            <a:ext cx="2103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B5FD"/>
                </a:solidFill>
                <a:latin typeface="JetBrains Mono"/>
                <a:ea typeface="JetBrains Mono"/>
              </a:rPr>
              <a:t>08  / 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