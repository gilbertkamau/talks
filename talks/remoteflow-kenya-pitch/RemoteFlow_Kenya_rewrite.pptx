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UNDERSTAND ·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7548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7A4B"/>
                </a:solidFill>
                <a:latin typeface="Calibri"/>
              </a:rPr>
              <a:t>RemoteFlow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914400"/>
            <a:ext cx="112471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Kenyan freelancers receive USD from clients and withdraw KES to M-Pesa in seconds, at a disclosed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4688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35F"/>
                </a:solidFill>
                <a:latin typeface="Calibri"/>
              </a:rPr>
              <a:t>Customer + job + outcome. Not an ecosystem. Not “unified wallet.” The business first, ambition second.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3246120"/>
            <a:ext cx="11301984" cy="2788920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3429000"/>
            <a:ext cx="1084478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7A4B"/>
                </a:solidFill>
                <a:latin typeface="Calibri"/>
              </a:rPr>
              <a:t>WHAT THE PRODUCT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794760"/>
            <a:ext cx="10844784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A client pays in USD, GBP, EUR or AED. RemoteFlow converts at an interbank-linked rate and pushes KES to M-Pesa through Safaricom Daraja B2C — already live.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Startup World Cup 2026  ·  Nairobi  ·  Pre-seed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UNDERSTAND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PayPal already took the money. Then it takes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7043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35F"/>
                </a:solidFill>
                <a:latin typeface="Calibri"/>
              </a:rPr>
              <a:t>A Kenyan freelancer on Upwork, Fiverr or a direct contract gets paid in USD. The painful behavior is cashing out through PayPal.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920240"/>
            <a:ext cx="5486400" cy="3977639"/>
          </a:xfrm>
          <a:prstGeom prst="roundRect">
            <a:avLst>
              <a:gd name="adj" fmla="val 8000"/>
            </a:avLst>
          </a:prstGeom>
          <a:solidFill>
            <a:srgbClr val="F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66544"/>
            <a:ext cx="5084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WEAK — industry rant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84064" cy="3337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“Cross-border payments are broken.” Fragmented. Inefficient. The investor still cannot see one person stuck on Friday when rent is due.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20240"/>
            <a:ext cx="5486400" cy="3977639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066544"/>
            <a:ext cx="5084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7A4B"/>
                </a:solidFill>
                <a:latin typeface="Calibri"/>
              </a:rPr>
              <a:t>STRONG — one person, one leak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77440"/>
            <a:ext cx="5084064" cy="3337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PayPal converts 3–5% below market. On KES 80,000/month that is KES 2,400–4,000 gone — every month.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It can also freeze a Kenyan account for up to 180 days. Banks need 2–5 days. Rent does not wait.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UNDERSTAND +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USD in. Convert. M-Pesa in under five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80160"/>
            <a:ext cx="32004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3"/>
            <a:ext cx="2798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816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2798064" cy="21488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PayPal or Wise.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Bad FX, a freeze, or a 2–5 day bank wait. Then M-Pesa, eventually.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1" y="1554480"/>
            <a:ext cx="4535424" cy="2240280"/>
          </a:xfrm>
          <a:prstGeom prst="roundRect">
            <a:avLst>
              <a:gd name="adj" fmla="val 8000"/>
            </a:avLst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5072" y="1737360"/>
            <a:ext cx="4169663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YOUR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103120"/>
            <a:ext cx="4169663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RemoteFlow wallet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Receive → convert → Daraja B2C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1280160"/>
            <a:ext cx="3200400" cy="2788920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41664" y="1426463"/>
            <a:ext cx="27980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7A4B"/>
                </a:solidFill>
                <a:latin typeface="Calibri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1664" y="1737360"/>
            <a:ext cx="2798064" cy="21488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One workflow. KES on the phone in seconds. Price disclosed before the tap.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4251960"/>
            <a:ext cx="1130198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A12"/>
                </a:solidFill>
                <a:latin typeface="Calibri"/>
              </a:rPr>
              <a:t>WHY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881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Daraja B2C is live on the product. Kenya’s remote USD earnings are already large. CBK has a PSP licence path. PayPal’s Kenyan limits are the tax the workforce is already paying.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BELIEVE ·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Replace $7.9T with math you can defend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80160"/>
            <a:ext cx="3794760" cy="4709160"/>
          </a:xfrm>
          <a:prstGeom prst="roundRect">
            <a:avLst>
              <a:gd name="adj" fmla="val 8000"/>
            </a:avLst>
          </a:prstGeom>
          <a:solidFill>
            <a:srgbClr val="F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3"/>
            <a:ext cx="33924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NOT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392424" cy="4069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$7.9T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“Global cross-border payments by 2030.”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Big number. Low information. An investor cannot see who you sell to this year.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280160"/>
            <a:ext cx="7278624" cy="4709160"/>
          </a:xfrm>
          <a:prstGeom prst="roundRect">
            <a:avLst>
              <a:gd name="adj" fmla="val 8000"/>
            </a:avLst>
          </a:prstGeom>
          <a:solidFill>
            <a:srgbClr val="E3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1463040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7A4B"/>
                </a:solidFill>
                <a:latin typeface="Calibri"/>
              </a:rPr>
              <a:t>BOTTOM-UP BEACHHEAD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1874519"/>
            <a:ext cx="676656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816"/>
                </a:solidFill>
                <a:latin typeface="Calibri"/>
              </a:rPr>
              <a:t>5,000 Kenyan freelancers already paid in USD  ×  KES 80,000 / month  =  KES 4.8B volume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3200400"/>
            <a:ext cx="67665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Net take used in the model: ~0.8% after M-Pesa costs → ~KES 38M revenue if that beachhead is fully served.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First slice you can actually acquire: freelancer communities already in beta onboarding — 500 users in year one, not 1 million logos.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4937760"/>
            <a:ext cx="6766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Corridor context, not TAM: KES 210B+ remote earnings into Kenya. East Africa is later. Win Nairobi cash-out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BELIEVE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Traction is what is live. Policies are not 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61872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261872"/>
            <a:ext cx="1417320" cy="841248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17904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99616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Safaricom Daraja B2C payouts to M-Pesa.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194560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194560"/>
            <a:ext cx="1417320" cy="841248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50591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32304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USD ingestion via PayPal Business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127248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3127248"/>
            <a:ext cx="1417320" cy="841248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383280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64991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Production stack: NestJS, PostgreSQL, Redis, Vercel. Double-entry ledger, KYC, FX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4059935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4059935"/>
            <a:ext cx="1417320" cy="841248"/>
          </a:xfrm>
          <a:prstGeom prst="rect">
            <a:avLst/>
          </a:prstGeom>
          <a:solidFill>
            <a:srgbClr val="0A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4315968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297679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RemoteFlow Limited incorporated. Shareholder agreement executed. Ring-fenced accounts drafted for CBK.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992624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992624"/>
            <a:ext cx="1417320" cy="841248"/>
          </a:xfrm>
          <a:prstGeom prst="rect">
            <a:avLst/>
          </a:prstGeom>
          <a:solidFill>
            <a:srgbClr val="0A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248656"/>
            <a:ext cx="1417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230368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Beta onboarding through freelancer communities. CBK PSP engagement started. Safaricom Spark submitted.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Who pays, how much, how often — then #1 to #1,000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0744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7A4B"/>
                </a:solidFill>
                <a:latin typeface="Calibri"/>
              </a:rPr>
              <a:t>WHO PAYS?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55264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The freelancer, on every payout. RemoteFlow earns when they get paid.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1234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380744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5A12"/>
                </a:solidFill>
                <a:latin typeface="Calibri"/>
              </a:rPr>
              <a:t>HOW MUCH?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691640"/>
            <a:ext cx="3255264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1.5% FX spread · 0.5% deposit · 0.25% transfer. Disclosed before convert. Not “zero fees.”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23444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380744"/>
            <a:ext cx="325526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4342A"/>
                </a:solidFill>
                <a:latin typeface="Calibri"/>
              </a:rPr>
              <a:t>HOW OFTEN?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691640"/>
            <a:ext cx="3255264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Every client payment. Recurring with the work, not a one-off download.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364992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816"/>
                </a:solidFill>
                <a:latin typeface="Calibri"/>
              </a:rPr>
              <a:t>How customer #1 becomes customer #1,000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794760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95020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1816"/>
                </a:solidFill>
                <a:latin typeface="Calibri"/>
              </a:rPr>
              <a:t>Community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9776" y="3794760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395020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1816"/>
                </a:solidFill>
                <a:latin typeface="Calibri"/>
              </a:rPr>
              <a:t>KYC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794760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95020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1816"/>
                </a:solidFill>
                <a:latin typeface="Calibri"/>
              </a:rPr>
              <a:t>First payout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3794760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395020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1816"/>
                </a:solidFill>
                <a:latin typeface="Calibri"/>
              </a:rPr>
              <a:t>Referral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02368" y="3794760"/>
            <a:ext cx="21945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8" y="3950208"/>
            <a:ext cx="2194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1816"/>
                </a:solidFill>
                <a:latin typeface="Calibri"/>
              </a:rPr>
              <a:t>Employer / B2B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663440"/>
            <a:ext cx="112471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35F"/>
                </a:solidFill>
                <a:latin typeface="Calibri"/>
              </a:rPr>
              <a:t>Repeatable motion: freelancer WhatsApp and community groups → KYC → first M-Pesa payout in seconds → invite the next contractor. Year-one model: 500 users, KES 480M volume, ~KES 3.8M FX revenue. HoneyCoin proved the spread model at scale; RemoteFlow owns the last mile to M-Pesa.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WHY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The real rival is staying on PayPal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430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Do not manufacture a feature table where RemoteFlow wins every column.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00200"/>
            <a:ext cx="27797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1783080"/>
            <a:ext cx="245059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816"/>
                </a:solidFill>
                <a:latin typeface="Calibri"/>
              </a:rPr>
              <a:t>Do nothing / PayPal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2606040"/>
            <a:ext cx="245059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Already adopted. Painful, but zero switching cost. This is the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00200"/>
            <a:ext cx="27797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783080"/>
            <a:ext cx="245059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816"/>
                </a:solidFill>
                <a:latin typeface="Calibri"/>
              </a:rPr>
              <a:t>Wise +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606040"/>
            <a:ext cx="245059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Better FX. Still 2–5 days before M-Pesa. Rent is due Friday.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00200"/>
            <a:ext cx="27797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83080"/>
            <a:ext cx="245059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816"/>
                </a:solidFill>
                <a:latin typeface="Calibri"/>
              </a:rPr>
              <a:t>HoneyCoin / Payd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606040"/>
            <a:ext cx="245059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Licensed or scaled corridors. Not built as the freelancer’s M-Pesa cash-out.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1600200"/>
            <a:ext cx="2779776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783080"/>
            <a:ext cx="245059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816"/>
                </a:solidFill>
                <a:latin typeface="Calibri"/>
              </a:rPr>
              <a:t>Raenest / Grey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2606040"/>
            <a:ext cx="2450592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35F"/>
                </a:solidFill>
                <a:latin typeface="Calibri"/>
              </a:rPr>
              <a:t>African freelancer wallets. Weak M-Pesa last mile in Kenya.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114800"/>
            <a:ext cx="11301984" cy="1920240"/>
          </a:xfrm>
          <a:prstGeom prst="roundRect">
            <a:avLst>
              <a:gd name="adj" fmla="val 8000"/>
            </a:avLst>
          </a:prstGeom>
          <a:solidFill>
            <a:srgbClr val="0E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job is not to prove competitors are bad. It is to prove the advantage compounds.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M-Pesa B2C already live + PayPal ingestion already live + community distribution + CBK process started. That stack gets harder to copy as payout volume and licence progress accumulate.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WANT MORE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Team ≠ biographies. Show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70432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1816"/>
                </a:solidFill>
                <a:latin typeface="Calibri"/>
              </a:rPr>
              <a:t>Gilbert Kinyanjui Kamau  ·  Founder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691640"/>
            <a:ext cx="563270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691640"/>
            <a:ext cx="109728" cy="1828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Built Daraja B2C payouts in production — not a slideware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691640"/>
            <a:ext cx="563270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691640"/>
            <a:ext cx="109728" cy="1828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219456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Built PayPal USD ingestion and the FX / ledger / KYC stack himself. No outsourced build to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3703320"/>
            <a:ext cx="563270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3703320"/>
            <a:ext cx="109728" cy="1828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2062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Prior founder: retail and supply businesses. Knows Kenyan cash collection, not just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3703320"/>
            <a:ext cx="563270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3703320"/>
            <a:ext cx="109728" cy="18288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42062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21816"/>
                </a:solidFill>
                <a:latin typeface="Calibri"/>
              </a:rPr>
              <a:t>Lived the problem: Kenyan operator moving money, not a tourist researching “Africa fintech.”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WANT MORE ·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5720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1816"/>
                </a:solidFill>
                <a:latin typeface="Calibri"/>
              </a:rPr>
              <a:t>Ask ≠ “strategic investors.” $250K, 18 months, three unlocks.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23444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234440"/>
            <a:ext cx="109728" cy="77724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07592"/>
            <a:ext cx="10972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AMOUNT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6362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$250K pre-seed. $0 raised. Founder-funded to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10312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103120"/>
            <a:ext cx="109728" cy="77724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10972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RUNWAY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3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18 months if the round closes as planned.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97180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971800"/>
            <a:ext cx="109728" cy="77724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044952"/>
            <a:ext cx="10972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30098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CBK PSP licence work, a liquidity/float pool, and the first 1,000 payout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840479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840479"/>
            <a:ext cx="109728" cy="77724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13631"/>
            <a:ext cx="10972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WHAT CAPITAL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169663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Licence and legal 30% · float 35% · community acquisition 20% · engineering 15%.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709160"/>
            <a:ext cx="1130198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709160"/>
            <a:ext cx="109728" cy="77724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782312"/>
            <a:ext cx="10972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WHAT YOU WANT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38344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1816"/>
                </a:solidFill>
                <a:latin typeface="Calibri"/>
              </a:rPr>
              <a:t>A cheque, or a warm intro to a Kenya payments / CBK-fluent investor. Spark is submitted. Baobab and Antler are next.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7A4B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40080"/>
            <a:ext cx="112471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816"/>
                </a:solidFill>
                <a:latin typeface="Calibri"/>
              </a:rPr>
              <a:t>Kenyan freelancers should not lose rent money to PayPal.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011680"/>
            <a:ext cx="11247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35F"/>
                </a:solidFill>
                <a:latin typeface="Calibri"/>
              </a:rPr>
              <a:t>RemoteFlow is live to M-Pesa. The raise is $250K to licence, seed float, and take the community from the first payouts to 1,000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3108960"/>
            <a:ext cx="11301984" cy="2880360"/>
          </a:xfrm>
          <a:prstGeom prst="roundRect">
            <a:avLst>
              <a:gd name="adj" fmla="val 8000"/>
            </a:avLst>
          </a:prstGeom>
          <a:solidFill>
            <a:srgbClr val="0A3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337560"/>
            <a:ext cx="108447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GILBERT KINYANJUI KAMAU  · 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749039"/>
            <a:ext cx="10844784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gilbert@remoteflow.cc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remoteflow.cc  ·  Nairobi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If a slide did not help you understand, believe, or want in — it is gone.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80467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REMOTEFLOW  ·  NAIROBI  ·  PRE-SEED  ·  remoteflow.cc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528816"/>
            <a:ext cx="2194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35F"/>
                </a:solidFill>
                <a:latin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